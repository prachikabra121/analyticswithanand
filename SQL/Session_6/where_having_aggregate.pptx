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73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LEARNING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Queries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Dates  •  WHERE  •  Aggregates  •  HAVING  •  ORDER BY  •  GROUP BY  •  UNION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Edition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75488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923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89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GETDATE, DATEPART, DATEDIFF, DATEADD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47548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929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95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rows with conditions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475488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8036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352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300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COUNT, AVG, MIN, MAX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47548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68680"/>
            <a:ext cx="475488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6868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18745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874520"/>
            <a:ext cx="47548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745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1929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vs HAVING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21899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explained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5220" y="2862072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880360"/>
            <a:ext cx="475488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88036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6112" y="3922776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3544" y="4242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query results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886200"/>
            <a:ext cx="47548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8862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03520" y="3941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&amp; UNION ALL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4306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result sets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0" y="923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1658" y="2901841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Clause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31658" y="3189877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grouped results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12664" y="122141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rows for aggregation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dates and times in SQL Server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 – GETDATE &amp; DATEPART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GETDATE()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date and time of the SQL Server.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023360" cy="10058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73352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GETDATE() AS CurrentDateTime;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Output (example):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-- 2024-04-24 10:35:22.123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DATEPART()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 specific part (year, month, day…) from a date.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023360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20440"/>
            <a:ext cx="64008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93592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DATEPART(YEAR,  GETDATE()) AS Yr,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DATEPART(MONTH, GETDATE()) AS Mo,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DATEPART(DAY,   GETDATE()) AS Dy;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Date Parts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114800" cy="204825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(0-23)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754880" y="3703320"/>
            <a:ext cx="4114800" cy="685800"/>
          </a:xfrm>
          <a:prstGeom prst="rect">
            <a:avLst/>
          </a:prstGeom>
          <a:solidFill>
            <a:srgbClr val="FFFBEB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3703320"/>
            <a:ext cx="64008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9472" y="3776472"/>
            <a:ext cx="38770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SYSDATETIME() when you need higher precision (nanoseconds).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 – DATEDIFF &amp; DATEADD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difference between two dates.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23360" cy="141732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81912"/>
            <a:ext cx="38221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Syntax: DATEDIFF(part, start_date, end_date)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DATEDIFF(DAY, '2024-01-01', GETDATE())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AS DaysSinceNewYear;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DATEDIFF(YEAR, BirthDate, GETDATE())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AS 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DATEADD()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4107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or subtracts a time interval from a date.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4023360" cy="10058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4904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22192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Syntax: DATEADD(part, number, date)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DATEADD(DAY,   30, GETDATE()) AS In30Days;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DATEADD(MONTH, -3, GETDATE()) AS ThreeMonthsAgo;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DATEADD(YEAR,   1, '2024-01-01') AS NextYear;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Practice Query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216152"/>
            <a:ext cx="4114800" cy="15544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16152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289304"/>
            <a:ext cx="39136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Find employees hired in last 6 months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HireDate,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DATEDIFF(DAY, HireDate, GETDATE())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AS DaysEmployed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HireDate &gt;= DATEADD(MONTH, -6, GETDATE())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HireDate DESC;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880360"/>
          <a:ext cx="4114800" cy="11704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HireDate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DaysEmployed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2024-02-10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2024-01-05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2023-11-20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754880" y="4160520"/>
            <a:ext cx="4114800" cy="594360"/>
          </a:xfrm>
          <a:prstGeom prst="rect">
            <a:avLst/>
          </a:prstGeom>
          <a:solidFill>
            <a:srgbClr val="FFFBEB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4160520"/>
            <a:ext cx="64008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4233672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Negative numbers in DATEADD go backward in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rows based on conditions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 – Filtering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9283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" y="1019908"/>
            <a:ext cx="4023360" cy="7772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4612" y="1026942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38221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column1, column2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TableName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condition;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252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Operators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740465"/>
              </p:ext>
            </p:extLst>
          </p:nvPr>
        </p:nvGraphicFramePr>
        <p:xfrm>
          <a:off x="324612" y="2165722"/>
          <a:ext cx="4023360" cy="2840736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= 50000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 /  &lt;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/ Less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&gt;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 /  &lt;=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Greater-or-equal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&gt;= 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or  !=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 &lt;&gt; 'HR'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BETWEEN 30K AND 60K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LIKE 'A%'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IN ('Surat','Mumbai')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IS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54880" y="1170432"/>
            <a:ext cx="41148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170432"/>
            <a:ext cx="64008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1243584"/>
            <a:ext cx="39136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Single condition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Department = 'Sales';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AND / 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Salary &gt; 40000 AND City = 'Surat';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BETWEEN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OrderDate BETWEEN '2024-01-01'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AND '2024-12-31';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LIKE  (starts with 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Name LIKE 'R%';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Category IN ('Electronics', 'Clothing');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70009" y="4572000"/>
            <a:ext cx="4673991" cy="457200"/>
          </a:xfrm>
          <a:prstGeom prst="rect">
            <a:avLst/>
          </a:prstGeom>
          <a:solidFill>
            <a:srgbClr val="FFFBEB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4572000"/>
            <a:ext cx="64008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70009" y="4647966"/>
            <a:ext cx="5420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AND to narrow results, OR to expand. Wrap OR groups in parentheses!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· COUNT · AVG · MIN · MAX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22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2252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 all values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536192"/>
            <a:ext cx="3803904" cy="11430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536192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609344"/>
            <a:ext cx="36027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SUM(Salary) AS TotalSalary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82296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822960"/>
            <a:ext cx="4023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822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2252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rows /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10328" y="1536192"/>
            <a:ext cx="3803904" cy="11430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0328" y="1536192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609344"/>
            <a:ext cx="36027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TotalEmp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COUNT(Email) AS WithEmail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 -- ignores NULLs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402336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" y="33284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values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" y="3639312"/>
            <a:ext cx="3803904" cy="11430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639312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712464"/>
            <a:ext cx="36027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AVG(Salary) AS AvgSalary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Department = 'IT';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9260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926080"/>
            <a:ext cx="4023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 / MAX()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33284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/ Largest value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0328" y="3639312"/>
            <a:ext cx="3803904" cy="11430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639312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712464"/>
            <a:ext cx="36027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MIN(Salary) AS MinSal,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MAX(Salary) AS MaxSal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your query results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Clause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result set. Default is ASC (smallest first). Use DESC for largest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029200" cy="333756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3337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4828032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Ascending (default)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Salary;             -- lowest first (ASC)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Descending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Salary DESC;        -- highest first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Multiple columns: first by dept ASC, then salary DESC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Department,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Department ASC, Salary DESC;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 by column position (column number in SELECT list)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Department, Salary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3 DESC;             -- 3rd column = Salary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 by alias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Salary * 12 AS AnnualPay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AnnualPay DESC;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804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Sample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70432"/>
          <a:ext cx="3291840" cy="175564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57784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77840" y="3593592"/>
            <a:ext cx="329184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is always the LAST clause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appear first in ASC order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TOP with ORDER BY to get top N rows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577840" y="4553712"/>
            <a:ext cx="3291840" cy="7772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4553712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4626864"/>
            <a:ext cx="30906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TOP 3 highest paid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TOP 3 EmpName, 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Salary DESC;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rows to apply aggregate functions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Clause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that have the same values in specified columns, so aggregate functions can be applied to each group.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120640" cy="15544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64792"/>
            <a:ext cx="49194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Total salary per department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COUNT(*)      AS NumEmployees,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SUM(Salary)   AS TotalSalary,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AVG(Salary)   AS AvgSalary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5120640" cy="502920"/>
          </a:xfrm>
          <a:prstGeom prst="rect">
            <a:avLst/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Rule: Every column in SELECT that is NOT inside an aggregate function MUST appear in GROUP BY.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5120640" cy="10972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931920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05072"/>
            <a:ext cx="49194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Group by multiple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Department, City,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COUNT(*) AS Headcount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Department, 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Department;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188720"/>
          <a:ext cx="3246120" cy="1597152"/>
        </p:xfrm>
        <a:graphic>
          <a:graphicData uri="http://schemas.openxmlformats.org/drawingml/2006/table">
            <a:tbl>
              <a:tblPr/>
              <a:tblGrid>
                <a:gridCol w="81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669280" y="2880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0" y="3218688"/>
            <a:ext cx="324612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FROM – get the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WHERE – filter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GROUP BY – form groups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HAVING – filter groups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SELECT – compute output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ORDER BY – sort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Clause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groups after aggregation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Clause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filters groups created by GROUP BY — just like WHERE filters rows.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937760" cy="265176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2651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473659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Show only departments with more than 5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COUNT(*) AS NumEmployees,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AVG(Salary) AS AvgSalary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  COUNT(*) &gt; 5;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Departments with total salary &gt; 300,000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Department, SUM(Salary) AS TotalSal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  SUM(Salary) &gt; 300000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TotalSal DESC;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822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70432"/>
          <a:ext cx="3383280" cy="1170432"/>
        </p:xfrm>
        <a:graphic>
          <a:graphicData uri="http://schemas.openxmlformats.org/drawingml/2006/table">
            <a:tbl>
              <a:tblPr/>
              <a:tblGrid>
                <a:gridCol w="112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2907792"/>
            <a:ext cx="338328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works on group-level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aggregate functions (SUM, COUNT, AVG…)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comes AFTER GROUP BY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reference aliases defined in SELECT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4005072"/>
            <a:ext cx="8458200" cy="10058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11"/>
          <p:cNvSpPr/>
          <p:nvPr/>
        </p:nvSpPr>
        <p:spPr>
          <a:xfrm>
            <a:off x="365760" y="4005072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078224"/>
            <a:ext cx="8257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Combine WHERE + HAVING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Department, COUNT(*) AS Cnt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 Salary &gt; 30000      -- filters rows first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  COUNT(*) &gt;= 3;      -- then filters groups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vs HAVING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key differences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vs HAVING – Side by Side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2048256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of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SELECT, UPDATE, 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SELECT with 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in 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 allowed?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grouping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grouping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&gt; 50000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COUNT(*) &gt;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971800"/>
            <a:ext cx="5303520" cy="20116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2971800"/>
            <a:ext cx="155448" cy="2039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038622"/>
            <a:ext cx="5102352" cy="187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 filters before grouping (no aggregates)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Department, COUNT(*) AS Cnt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 Salary &gt; 30000          -- ✅ filters individual rows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HAVING filters after grouping (uses aggregates)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Department, COUNT(*) AS Cnt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  COUNT(*) &gt; 5;           -- ✅ filters groups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WRONG: Cannot use aggregate in WHERE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Department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Employees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 COUNT(*) &gt; 5;           -- ❌ ERROR!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52160" y="3108960"/>
            <a:ext cx="2926080" cy="1143000"/>
          </a:xfrm>
          <a:prstGeom prst="rect">
            <a:avLst/>
          </a:prstGeom>
          <a:solidFill>
            <a:srgbClr val="FFFBEB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3108960"/>
            <a:ext cx="6400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16752" y="3182112"/>
            <a:ext cx="26883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Simple rule: If you need to filter using an aggregate (SUM, COUNT, AVG…) → use HAVING. For everything else → use WHERE.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4370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Memory Trick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0" y="4690872"/>
            <a:ext cx="292608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4690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→ rows  |  HAVING → groups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&amp; UNION ALL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results from multiple queries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 vs  UNION ALL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69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406908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results and removes DUPLICATES.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1664208"/>
            <a:ext cx="3840480" cy="8686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66420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737360"/>
            <a:ext cx="36393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FROM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FROM Suppliers;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Returns unique cities 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Slower (removes duplicates using sort/hash)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63240"/>
          <a:ext cx="3794760" cy="146304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Duplicates removed!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804672"/>
            <a:ext cx="4069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804672"/>
            <a:ext cx="40690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75488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results and KEEPS all duplicates.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773168" y="1664208"/>
            <a:ext cx="3840480" cy="8686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7"/>
          <p:cNvSpPr/>
          <p:nvPr/>
        </p:nvSpPr>
        <p:spPr>
          <a:xfrm>
            <a:off x="4773168" y="166420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0328" y="1737360"/>
            <a:ext cx="36393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FROM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FROM Suppliers;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Returns all rows including dupes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73168" y="25968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Faster (no duplicate removal needed)</a:t>
            </a:r>
            <a:endParaRPr lang="en-US" sz="10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3063240"/>
          <a:ext cx="3794760" cy="2048256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4773168" y="47914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Duplicates kept!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– Rules &amp; Practice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UNION / UNION 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1148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columns in both queries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must have compatible data types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come from the FIRST query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goes at the very end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combine more than two 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206240" cy="237744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560320"/>
            <a:ext cx="54864" cy="2331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587752"/>
            <a:ext cx="3986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Combine current + former employees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'Active'  AS Status FROM Employees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'Former'  AS Status FROM FormerEmployees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EmpName;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Wrong: different column counts  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Salary FROM Employees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Customers;     -- ❌ ERROR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Correct fix  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Salary FROM Employees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0      FROM Customers; -- pad with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70432"/>
            <a:ext cx="4114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UNION when…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distinct/unique results only.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unique list of cities across two tables.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862072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862072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862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UNION ALL when…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ALL rows including duplicates, or when you know there are no duplicates (faster).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combining transaction logs.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4617720"/>
            <a:ext cx="4114800" cy="594360"/>
          </a:xfrm>
          <a:prstGeom prst="rect">
            <a:avLst/>
          </a:prstGeom>
          <a:solidFill>
            <a:srgbClr val="FFFBEB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4617720"/>
            <a:ext cx="64008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4690872"/>
            <a:ext cx="3877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When in doubt: use UNION ALL first for speed, then add UNION if you need to deduplicate.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Cheat Sheet – Quick Reference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3218688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 /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GETDATE()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date &amp;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datetime of SQL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DATEDIFF(part,s,e)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= YEAR/MONTH/DAY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DATEADD(part,n,d)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Add/subtract from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negative n to go 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use aggregate functions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/ COUNT /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NULLs (except COUNT(*))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groups for aggregates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non-aggregate cols must be here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after GROUP BY; allows aggregates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clause; ASC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queries (unique)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cols, compatible types; slow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queries (all rows)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cols; faster; keeps duplicates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53712"/>
            <a:ext cx="8412480" cy="475488"/>
          </a:xfrm>
          <a:prstGeom prst="rect">
            <a:avLst/>
          </a:prstGeom>
          <a:solidFill>
            <a:srgbClr val="FFFBEB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4553712"/>
            <a:ext cx="64008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626864"/>
            <a:ext cx="8174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Query Execution Order: FROM → WHERE → GROUP BY → HAVING → SELECT → ORDER BY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SQL!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daily • Use SQL Server Management Studio (SSMS) • Build real projects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 Dates  •  WHERE  •  Aggregates  •  GROUP BY  •  HAVING  •  ORDER BY  •  UNION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1992</Words>
  <Application>Microsoft Office PowerPoint</Application>
  <PresentationFormat>On-screen Show (16:9)</PresentationFormat>
  <Paragraphs>517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– Interactive Teaching Guide</dc:title>
  <dc:subject>PptxGenJS Presentation</dc:subject>
  <dc:creator>PptxGenJS</dc:creator>
  <cp:lastModifiedBy>Prachi Kabra</cp:lastModifiedBy>
  <cp:revision>2</cp:revision>
  <dcterms:created xsi:type="dcterms:W3CDTF">2026-04-24T18:15:05Z</dcterms:created>
  <dcterms:modified xsi:type="dcterms:W3CDTF">2026-04-24T19:19:52Z</dcterms:modified>
</cp:coreProperties>
</file>