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70" r:id="rId9"/>
    <p:sldId id="271" r:id="rId10"/>
    <p:sldId id="272" r:id="rId11"/>
    <p:sldId id="260" r:id="rId12"/>
    <p:sldId id="261" r:id="rId13"/>
    <p:sldId id="262" r:id="rId14"/>
    <p:sldId id="263" r:id="rId15"/>
    <p:sldId id="264" r:id="rId16"/>
    <p:sldId id="268" r:id="rId17"/>
    <p:sldId id="269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975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0584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65176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47472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29768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3816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41832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-914400"/>
            <a:ext cx="5943600" cy="5943600"/>
          </a:xfrm>
          <a:prstGeom prst="ellipse">
            <a:avLst/>
          </a:prstGeom>
          <a:solidFill>
            <a:srgbClr val="00FF94">
              <a:alpha val="8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-1371600" y="2743200"/>
            <a:ext cx="4114800" cy="41148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A855F7">
              <a:alpha val="12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502920"/>
            <a:ext cx="2743200" cy="292608"/>
          </a:xfrm>
          <a:prstGeom prst="rect">
            <a:avLst/>
          </a:prstGeom>
          <a:solidFill>
            <a:srgbClr val="00FF94">
              <a:alpha val="2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2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 SERVER  •  DARK EDITION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57200" y="8686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9000" dirty="0"/>
          </a:p>
        </p:txBody>
      </p:sp>
      <p:sp>
        <p:nvSpPr>
          <p:cNvPr id="21" name="Text 19"/>
          <p:cNvSpPr/>
          <p:nvPr/>
        </p:nvSpPr>
        <p:spPr>
          <a:xfrm>
            <a:off x="457200" y="20574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&amp; Clauses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457200" y="2944368"/>
            <a:ext cx="1120793" cy="347472"/>
          </a:xfrm>
          <a:prstGeom prst="rect">
            <a:avLst/>
          </a:prstGeom>
          <a:solidFill>
            <a:srgbClr val="00FF94">
              <a:alpha val="15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944368"/>
            <a:ext cx="1120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632857" y="2944368"/>
            <a:ext cx="1120793" cy="347472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32857" y="2944368"/>
            <a:ext cx="1120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08514" y="2944368"/>
            <a:ext cx="1120793" cy="347472"/>
          </a:xfrm>
          <a:prstGeom prst="rect">
            <a:avLst/>
          </a:prstGeom>
          <a:solidFill>
            <a:srgbClr val="A855F7">
              <a:alpha val="1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08514" y="2944368"/>
            <a:ext cx="1120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984171" y="2944368"/>
            <a:ext cx="1120793" cy="347472"/>
          </a:xfrm>
          <a:prstGeom prst="rect">
            <a:avLst/>
          </a:prstGeom>
          <a:solidFill>
            <a:srgbClr val="FFD60A">
              <a:alpha val="15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84171" y="2944368"/>
            <a:ext cx="1120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159829" y="2944368"/>
            <a:ext cx="1120793" cy="347472"/>
          </a:xfrm>
          <a:prstGeom prst="rect">
            <a:avLst/>
          </a:prstGeom>
          <a:solidFill>
            <a:srgbClr val="FF4D6D">
              <a:alpha val="15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159829" y="2944368"/>
            <a:ext cx="1120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NULL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35486" y="2944368"/>
            <a:ext cx="1120793" cy="347472"/>
          </a:xfrm>
          <a:prstGeom prst="rect">
            <a:avLst/>
          </a:prstGeom>
          <a:solidFill>
            <a:srgbClr val="00FF94">
              <a:alpha val="15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5486" y="2944368"/>
            <a:ext cx="1120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AND/OR/NOT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511143" y="2944368"/>
            <a:ext cx="1120793" cy="347472"/>
          </a:xfrm>
          <a:prstGeom prst="rect">
            <a:avLst/>
          </a:prstGeom>
          <a:solidFill>
            <a:srgbClr val="00D4FF">
              <a:alpha val="15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11143" y="2944368"/>
            <a:ext cx="112079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Teaching Deck  —  Open in PowerPoint for best experience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286000"/>
            <a:ext cx="7315200" cy="7315200"/>
          </a:xfrm>
          <a:prstGeom prst="ellipse">
            <a:avLst/>
          </a:prstGeom>
          <a:solidFill>
            <a:srgbClr val="00FF94">
              <a:alpha val="8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00FF94">
              <a:alpha val="1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64592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377440" y="1920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Comparison, Logical &amp; Bitwise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2514600"/>
            <a:ext cx="64008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"/>
            <a:ext cx="1220724" cy="274320"/>
          </a:xfrm>
          <a:prstGeom prst="rect">
            <a:avLst/>
          </a:prstGeom>
          <a:solidFill>
            <a:srgbClr val="00FF94">
              <a:alpha val="2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2024"/>
            <a:ext cx="122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Operators – Overview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Dark Edition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777240"/>
            <a:ext cx="41605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4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77240"/>
            <a:ext cx="416052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1252728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(Add)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(Subtract)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 (Multiply)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(Divide)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(Modulo)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41605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777240"/>
            <a:ext cx="41605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86868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252728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Equal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!= / &lt;&gt; Not equal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Greater than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Less than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&gt;= / &lt;=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20040" y="2880360"/>
            <a:ext cx="41605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80360"/>
            <a:ext cx="41605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71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" y="3355848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BETWEEN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EXISTS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880360"/>
            <a:ext cx="416052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60A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880360"/>
            <a:ext cx="4160520" cy="36576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971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937760" y="3355848"/>
            <a:ext cx="3749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(AND)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(OR)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 (XOR)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 (NOT)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Shift right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&lt;&lt; Shift left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"/>
            <a:ext cx="1220724" cy="274320"/>
          </a:xfrm>
          <a:prstGeom prst="rect">
            <a:avLst/>
          </a:prstGeom>
          <a:solidFill>
            <a:srgbClr val="00FF94">
              <a:alpha val="2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2024"/>
            <a:ext cx="122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OPERATORS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Operators – Live Examples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Dark Edition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777240"/>
            <a:ext cx="5029200" cy="2423160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77240"/>
            <a:ext cx="54864" cy="242316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868680"/>
            <a:ext cx="4846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➊ ARITHMETIC OPERATORS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ProductName,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Price,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Price * 1.18   AS PriceWithGST,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Price * 0.9    AS Discounted10Pct,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Price % 100    AS Remainder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Products;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➋ COMPARISON OPERATORS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Salary &gt;= 50000     -- greater than or equal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 Department &lt;&gt; 'HR'; -- not equal to HR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291840"/>
            <a:ext cx="5029200" cy="1554480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291840"/>
            <a:ext cx="54864" cy="155448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338328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➌ COMBINATION: Arithmetic + Comparison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Salary,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Salary * 12          AS AnnualSalary,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Salary * 12 * 0.10   AS AnnualBonus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Salary * 12 &gt; 600000;  -- annual &gt; 6 lakh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32120" y="7772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Preview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115568"/>
          <a:ext cx="3383280" cy="1097280"/>
        </p:xfrm>
        <a:graphic>
          <a:graphicData uri="http://schemas.openxmlformats.org/drawingml/2006/table">
            <a:tbl>
              <a:tblPr/>
              <a:tblGrid>
                <a:gridCol w="112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EmpName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Salary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AnnualSal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Rahul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55000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660000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Priya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72000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864000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Arjun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52000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624000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532120" y="2633472"/>
            <a:ext cx="3383280" cy="822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FD60A"/>
            </a:solidFill>
            <a:prstDash val="solid"/>
          </a:ln>
          <a:effectLst>
            <a:outerShdw blurRad="254000" dist="50800" dir="16200000" algn="bl" rotWithShape="0">
              <a:srgbClr val="FFD60A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32120" y="2633472"/>
            <a:ext cx="54864" cy="82296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78424" y="2706624"/>
            <a:ext cx="316382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Arithmetic operators work in SELECT, WHERE &amp; ORDER BY. Use parentheses ( ) to control priority.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5532120" y="3547872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Precedence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532120" y="3858768"/>
            <a:ext cx="3383280" cy="1005840"/>
          </a:xfrm>
          <a:prstGeom prst="rect">
            <a:avLst/>
          </a:prstGeom>
          <a:solidFill>
            <a:srgbClr val="060A14"/>
          </a:solidFill>
          <a:ln w="1905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532120" y="3858768"/>
            <a:ext cx="54864" cy="10058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660136" y="3950208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Highest → Lowest: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 ()  Parentheses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 *  /  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 +  -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 =  !=  &lt;  &gt;  &lt;=  &gt;=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 NOT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6.  AND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7.  OR   ← lowest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286000"/>
            <a:ext cx="7315200" cy="7315200"/>
          </a:xfrm>
          <a:prstGeom prst="ellipse">
            <a:avLst/>
          </a:prstGeom>
          <a:solidFill>
            <a:srgbClr val="FFD60A">
              <a:alpha val="8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FD60A">
              <a:alpha val="10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645920" cy="36576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Operator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377440" y="1920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filtering in WHERE clause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2514600"/>
            <a:ext cx="64008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"/>
            <a:ext cx="694944" cy="274320"/>
          </a:xfrm>
          <a:prstGeom prst="rect">
            <a:avLst/>
          </a:prstGeom>
          <a:solidFill>
            <a:srgbClr val="FFD60A">
              <a:alpha val="20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202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Operator – Pattern Matching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Dark Edition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8503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115568"/>
            <a:ext cx="8503920" cy="502920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115568"/>
            <a:ext cx="54864" cy="50292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" y="120700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column(s) FROM table WHERE column LIKE 'pattern';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1828800"/>
            <a:ext cx="27889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4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1828800"/>
            <a:ext cx="278892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'A%'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9768" y="26060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Arjun, Amit, Avni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1828800"/>
            <a:ext cx="27889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828800"/>
            <a:ext cx="27889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'%Kumar'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55848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 with Kumar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355848" y="26060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Raj Kumar, Sam Kumar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72200" y="1828800"/>
            <a:ext cx="27889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1828800"/>
            <a:ext cx="2788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81928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'%an%'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81928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'an' anywhere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81928" y="260604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Priyanka, Anita, Rani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3337560"/>
            <a:ext cx="27889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60A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337560"/>
            <a:ext cx="2788920" cy="36576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'R___'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29768" y="3813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+ exactly 3 more characters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9768" y="41148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Riya, Ravi, Rani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246120" y="3337560"/>
            <a:ext cx="27889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4D6D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46120" y="3337560"/>
            <a:ext cx="2788920" cy="3657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55848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'[AP]%'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55848" y="3813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A or P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55848" y="41148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Amit, Priya, Arjun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72200" y="3337560"/>
            <a:ext cx="2788920" cy="13716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4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3337560"/>
            <a:ext cx="278892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81928" y="3429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'[^S]%'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281928" y="3813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start with S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281928" y="4114800"/>
            <a:ext cx="2560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Rahul, Priya, Kiran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" y="4663440"/>
            <a:ext cx="8503920" cy="384048"/>
          </a:xfrm>
          <a:prstGeom prst="rect">
            <a:avLst/>
          </a:prstGeom>
          <a:solidFill>
            <a:srgbClr val="111827"/>
          </a:solidFill>
          <a:ln w="19050">
            <a:solidFill>
              <a:srgbClr val="FFD60A"/>
            </a:solidFill>
            <a:prstDash val="solid"/>
          </a:ln>
          <a:effectLst>
            <a:outerShdw blurRad="254000" dist="50800" dir="16200000" algn="bl" rotWithShape="0">
              <a:srgbClr val="FFD60A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0040" y="4663440"/>
            <a:ext cx="54864" cy="384048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66344" y="4736592"/>
            <a:ext cx="8284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NOT LIKE to exclude patterns:  WHERE Name NOT LIKE 'R%'  →  excludes names starting with 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"/>
            <a:ext cx="694944" cy="274320"/>
          </a:xfrm>
          <a:prstGeom prst="rect">
            <a:avLst/>
          </a:prstGeom>
          <a:solidFill>
            <a:srgbClr val="FFD60A">
              <a:alpha val="20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202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– Deep Dive with Real Queries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Dark Edition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5074920" cy="3291840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804672"/>
            <a:ext cx="54864" cy="329184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896112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Search customer emails from gmail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CustomerName, Email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Customers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Email LIKE '%@gmail.com';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Find product codes: start with 'PRD', 3-digit number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ProductCode, ProductName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Products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ProductCode LIKE 'PRD[0-9][0-9][0-9]';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Phone numbers starting with 98 or 99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Name, Phone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Contacts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Phone LIKE '9[89]%';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Escape special character: find 50% discount items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Use ESCAPE to treat % as literal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ProductName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Products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Description LIKE '%50!%%' ESCAPE '!';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4206240"/>
            <a:ext cx="5074920" cy="960120"/>
          </a:xfrm>
          <a:prstGeom prst="rect">
            <a:avLst/>
          </a:prstGeom>
          <a:solidFill>
            <a:srgbClr val="060A14"/>
          </a:solidFill>
          <a:ln w="1905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4206240"/>
            <a:ext cx="54864" cy="9601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429768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NOT LIKE: exclude test data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Users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Email NOT LIKE '%test%'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 Email NOT LIKE '%dummy%';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LIKE with multiple patterns using 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City LIKE 'Sur%'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 City LIKE 'Ahm%'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 City LIKE 'Mum%';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77840" y="8046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vs = (Equals)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43000"/>
          <a:ext cx="3337560" cy="1767840"/>
        </p:xfrm>
        <a:graphic>
          <a:graphicData uri="http://schemas.openxmlformats.org/drawingml/2006/table">
            <a:tbl>
              <a:tblPr/>
              <a:tblGrid>
                <a:gridCol w="1112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Feature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LIKE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Pattern match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 Yes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❌ No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Exact match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 Yes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 Yes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Wildcards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 Yes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❌ No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Performance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Slower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Faster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Case sensitive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Depends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Depends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577840" y="3310128"/>
            <a:ext cx="3337560" cy="685800"/>
          </a:xfrm>
          <a:prstGeom prst="rect">
            <a:avLst/>
          </a:prstGeom>
          <a:solidFill>
            <a:srgbClr val="111827"/>
          </a:solidFill>
          <a:ln w="19050">
            <a:solidFill>
              <a:srgbClr val="FFD60A"/>
            </a:solidFill>
            <a:prstDash val="solid"/>
          </a:ln>
          <a:effectLst>
            <a:outerShdw blurRad="254000" dist="50800" dir="16200000" algn="bl" rotWithShape="0">
              <a:srgbClr val="FFD60A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3310128"/>
            <a:ext cx="54864" cy="68580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24144" y="3383280"/>
            <a:ext cx="3118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For EXACT matches always prefer = over LIKE. It's faster because SQL can use indexes.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577840" y="4114800"/>
            <a:ext cx="3337560" cy="1024128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77840" y="4114800"/>
            <a:ext cx="54864" cy="1024128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05856" y="4206240"/>
            <a:ext cx="3154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✅ Fast: uses index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Email = 'user@gmail.com'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🐢 Slow: cannot use index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Email LIKE '%gmail.com'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286000"/>
            <a:ext cx="7315200" cy="731520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645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OR / NOT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377440" y="1920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multiple conditions in WHERE clause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2514600"/>
            <a:ext cx="64008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"/>
            <a:ext cx="1325880" cy="274320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AND/OR/NOT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AND, OR, NOT – Logical Operators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Dark Edition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2834640" cy="41605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4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804672"/>
            <a:ext cx="283464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80467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29768" y="14904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conditions must be TRUE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9768" y="1938528"/>
            <a:ext cx="2606040" cy="658368"/>
          </a:xfrm>
          <a:prstGeom prst="rect">
            <a:avLst/>
          </a:prstGeom>
          <a:solidFill>
            <a:srgbClr val="060A1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965960"/>
            <a:ext cx="2496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AND TRUE → 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AND FALSE →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AND FALSE → FALSE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" y="2670048"/>
            <a:ext cx="2606040" cy="1234440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" y="2670048"/>
            <a:ext cx="54864" cy="123444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" y="2761488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Department = 'IT'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Salary &gt; 50000;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91840" y="804672"/>
            <a:ext cx="2834640" cy="41605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804672"/>
            <a:ext cx="283464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80467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3401568" y="14904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condition must be TRUE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01568" y="1938528"/>
            <a:ext cx="2606040" cy="658368"/>
          </a:xfrm>
          <a:prstGeom prst="rect">
            <a:avLst/>
          </a:prstGeom>
          <a:solidFill>
            <a:srgbClr val="060A14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56432" y="1965960"/>
            <a:ext cx="2496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OR FALSE → 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OR FALSE →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 OR TRUE → TRUE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01568" y="2670048"/>
            <a:ext cx="2606040" cy="1234440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01568" y="2670048"/>
            <a:ext cx="54864" cy="123444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9584" y="2761488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City = 'Surat'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OR City = 'Mumbai';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263640" y="804672"/>
            <a:ext cx="2834640" cy="4160520"/>
          </a:xfrm>
          <a:prstGeom prst="rect">
            <a:avLst/>
          </a:prstGeom>
          <a:solidFill>
            <a:srgbClr val="111827"/>
          </a:solidFill>
          <a:ln w="12700">
            <a:solidFill>
              <a:srgbClr val="FF4D6D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263640" y="804672"/>
            <a:ext cx="2834640" cy="3657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80467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6373368" y="149047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Reverses / negates the condition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73368" y="1938528"/>
            <a:ext cx="2606040" cy="658368"/>
          </a:xfrm>
          <a:prstGeom prst="rect">
            <a:avLst/>
          </a:prstGeom>
          <a:solidFill>
            <a:srgbClr val="060A14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1965960"/>
            <a:ext cx="24963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TRUE → 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FALSE → 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NULL → NULL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373368" y="2670048"/>
            <a:ext cx="2606040" cy="1234440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373368" y="2670048"/>
            <a:ext cx="54864" cy="123444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01384" y="2761488"/>
            <a:ext cx="2423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NOT Department = 'HR';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same as: Department &lt;&gt; 'HR'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645152"/>
            <a:ext cx="8503920" cy="438912"/>
          </a:xfrm>
          <a:prstGeom prst="rect">
            <a:avLst/>
          </a:prstGeom>
          <a:solidFill>
            <a:srgbClr val="111827"/>
          </a:solidFill>
          <a:ln w="19050">
            <a:solidFill>
              <a:srgbClr val="A855F7"/>
            </a:solidFill>
            <a:prstDash val="solid"/>
          </a:ln>
          <a:effectLst>
            <a:outerShdw blurRad="254000" dist="50800" dir="16200000" algn="bl" rotWithShape="0">
              <a:srgbClr val="A855F7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4645152"/>
            <a:ext cx="54864" cy="43891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" y="4718304"/>
            <a:ext cx="8284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Precedence: NOT &gt; AND &gt; OR.  Always use ( ) parentheses when mixing AND with OR to avoid logic bugs!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"/>
            <a:ext cx="1325880" cy="274320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202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AND/OR/NOT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/ OR / NOT – Advanced Combinations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Dark Edition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5074920" cy="3520440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804672"/>
            <a:ext cx="54864" cy="352044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896112"/>
            <a:ext cx="489204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Complex condition with parentheses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 Department, Salary, City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(Department = 'IT' OR Department = 'Finance')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 Salary &gt; 50000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 City &lt;&gt; 'Delhi';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NOT with BETWEEN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ProductName, Price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Products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Price NOT BETWEEN 100 AND 500;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NOT with IN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 Department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Department NOT IN ('HR', 'Admin', 'Legal');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NOT with LIKE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 Email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Email IS NOT NULL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 Email NOT LIKE '%test%';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4407408"/>
            <a:ext cx="5074920" cy="749808"/>
          </a:xfrm>
          <a:prstGeom prst="rect">
            <a:avLst/>
          </a:prstGeom>
          <a:solidFill>
            <a:srgbClr val="060A14"/>
          </a:solidFill>
          <a:ln w="1905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4407408"/>
            <a:ext cx="54864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4498848"/>
            <a:ext cx="4892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⚠️ Parentheses matter! Different results: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Version A (wrong intent)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Dept = 'IT' OR Dept = 'HR' AND Salary &gt; 50000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AND evaluates first: IT-all + HR-highpay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Version B (correct intent)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(Dept = 'IT' OR Dept = 'HR') AND Salary &gt; 50000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Both must match salary condition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77840" y="8046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Table Quick Reference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43000"/>
          <a:ext cx="3337560" cy="1371600"/>
        </p:xfrm>
        <a:graphic>
          <a:graphicData uri="http://schemas.openxmlformats.org/drawingml/2006/table">
            <a:tbl>
              <a:tblPr/>
              <a:tblGrid>
                <a:gridCol w="8343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3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43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43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AND 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 OR B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577840" y="27432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Operator</a:t>
            </a:r>
            <a:endParaRPr lang="en-US" sz="12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3090672"/>
          <a:ext cx="3337560" cy="1097280"/>
        </p:xfrm>
        <a:graphic>
          <a:graphicData uri="http://schemas.openxmlformats.org/drawingml/2006/table">
            <a:tbl>
              <a:tblPr/>
              <a:tblGrid>
                <a:gridCol w="1668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Condition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NOT Result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FALSE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TRUE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5"/>
          <p:cNvSpPr/>
          <p:nvPr/>
        </p:nvSpPr>
        <p:spPr>
          <a:xfrm>
            <a:off x="5577840" y="4069080"/>
            <a:ext cx="3337560" cy="777240"/>
          </a:xfrm>
          <a:prstGeom prst="rect">
            <a:avLst/>
          </a:prstGeom>
          <a:solidFill>
            <a:srgbClr val="111827"/>
          </a:solidFill>
          <a:ln w="19050">
            <a:solidFill>
              <a:srgbClr val="A855F7"/>
            </a:solidFill>
            <a:prstDash val="solid"/>
          </a:ln>
          <a:effectLst>
            <a:outerShdw blurRad="254000" dist="50800" dir="16200000" algn="bl" rotWithShape="0">
              <a:srgbClr val="A855F7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577840" y="4069080"/>
            <a:ext cx="54864" cy="7772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24144" y="4142232"/>
            <a:ext cx="31181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Replace long OR chains with IN():  City='Surat' OR City='Mumbai'  →  City IN ('Surat','Mumbai')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286000"/>
            <a:ext cx="7315200" cy="7315200"/>
          </a:xfrm>
          <a:prstGeom prst="ellipse">
            <a:avLst/>
          </a:prstGeom>
          <a:solidFill>
            <a:srgbClr val="00D4FF">
              <a:alpha val="8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64592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377440" y="1920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characters used with LIKE operator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2514600"/>
            <a:ext cx="64008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"/>
            <a:ext cx="1220724" cy="2743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2024"/>
            <a:ext cx="122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WILDCARDS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Wildcards – Pattern Matching Characters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Dark Edition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777240"/>
            <a:ext cx="4160520" cy="18745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777240"/>
            <a:ext cx="822960" cy="18745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777240"/>
            <a:ext cx="822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34440" y="8869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1252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or more characters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34440" y="1618488"/>
            <a:ext cx="3154680" cy="914400"/>
          </a:xfrm>
          <a:prstGeom prst="rect">
            <a:avLst/>
          </a:prstGeom>
          <a:solidFill>
            <a:srgbClr val="060A14"/>
          </a:solidFill>
          <a:ln w="1905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34440" y="1618488"/>
            <a:ext cx="54864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2456" y="17099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'R%'  →  Rahul, Riya, Ram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777240"/>
            <a:ext cx="4160520" cy="18745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777240"/>
            <a:ext cx="822960" cy="18745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777240"/>
            <a:ext cx="822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669280" y="8869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Underscore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125272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character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0" y="1618488"/>
            <a:ext cx="3154680" cy="914400"/>
          </a:xfrm>
          <a:prstGeom prst="rect">
            <a:avLst/>
          </a:prstGeom>
          <a:solidFill>
            <a:srgbClr val="060A14"/>
          </a:solidFill>
          <a:ln w="1905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1618488"/>
            <a:ext cx="54864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97296" y="170992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'_iya' →  Riya, Miya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" y="2788920"/>
            <a:ext cx="4160520" cy="18745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788920"/>
            <a:ext cx="822960" cy="18745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788920"/>
            <a:ext cx="822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[]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34440" y="28986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Bracket Set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34440" y="32644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ONE char in the set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234440" y="3630168"/>
            <a:ext cx="3154680" cy="914400"/>
          </a:xfrm>
          <a:prstGeom prst="rect">
            <a:avLst/>
          </a:prstGeom>
          <a:solidFill>
            <a:srgbClr val="060A14"/>
          </a:solidFill>
          <a:ln w="1905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234440" y="3630168"/>
            <a:ext cx="54864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62456" y="372160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'[RSM]iya' →  Riya, Siya, Miya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788920"/>
            <a:ext cx="4160520" cy="187452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54880" y="2788920"/>
            <a:ext cx="822960" cy="18745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0" y="2788920"/>
            <a:ext cx="822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[^]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669280" y="28986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Negated Set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669280" y="326440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char NOT in the set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669280" y="3630168"/>
            <a:ext cx="3154680" cy="914400"/>
          </a:xfrm>
          <a:prstGeom prst="rect">
            <a:avLst/>
          </a:prstGeom>
          <a:solidFill>
            <a:srgbClr val="060A14"/>
          </a:solidFill>
          <a:ln w="1905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669280" y="3630168"/>
            <a:ext cx="54864" cy="9144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97296" y="3721608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'[^RS]%'  →  Mona, Priya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" y="4681728"/>
            <a:ext cx="8503920" cy="384048"/>
          </a:xfrm>
          <a:prstGeom prst="rect">
            <a:avLst/>
          </a:prstGeom>
          <a:solidFill>
            <a:srgbClr val="111827"/>
          </a:solidFill>
          <a:ln w="19050">
            <a:solidFill>
              <a:srgbClr val="00D4FF"/>
            </a:solidFill>
            <a:prstDash val="solid"/>
          </a:ln>
          <a:effectLst>
            <a:outerShdw blurRad="254000" dist="50800" dir="16200000" algn="bl" rotWithShape="0">
              <a:srgbClr val="00D4FF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20040" y="4681728"/>
            <a:ext cx="54864" cy="3840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" y="4754880"/>
            <a:ext cx="8284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Wildcards only work with the LIKE operator. Using = with % treats % as a literal character!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"/>
            <a:ext cx="1220724" cy="274320"/>
          </a:xfrm>
          <a:prstGeom prst="rect">
            <a:avLst/>
          </a:prstGeom>
          <a:solidFill>
            <a:srgbClr val="00D4FF">
              <a:alpha val="2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2024"/>
            <a:ext cx="12207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WILDCARDS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Wildcards – Practice Queries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Dark Edition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5074920" cy="2880360"/>
          </a:xfrm>
          <a:prstGeom prst="rect">
            <a:avLst/>
          </a:prstGeom>
          <a:solidFill>
            <a:srgbClr val="060A14"/>
          </a:solidFill>
          <a:ln w="1905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804672"/>
            <a:ext cx="54864" cy="2880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896112"/>
            <a:ext cx="4892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% : Find all employees whose name STARTS with 'R'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WHERE Name LIKE 'R%';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% : Names ENDING with 'a'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WHERE Name LIKE '%a';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% : Names CONTAINING 'ar' anywhere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WHERE Name LIKE '%ar%';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_ : Names with exactly 4 letters starting with 'R'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WHERE Name LIKE 'R___';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Combining wildcards: 2nd letter is 'i'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 WHERE Name LIKE '_i%';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749040"/>
            <a:ext cx="5074920" cy="1389888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749040"/>
            <a:ext cx="54864" cy="1389888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3840480"/>
            <a:ext cx="489204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[] : Name starts with R, S, or 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Name LIKE '[RSP]%';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[^] : Name does NOT start with R or 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Name LIKE '[^RS]%';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Range: Names starting A to M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Name LIKE '[A-M]%';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77840" y="8046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/ No-Match Table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43000"/>
          <a:ext cx="3337560" cy="2164080"/>
        </p:xfrm>
        <a:graphic>
          <a:graphicData uri="http://schemas.openxmlformats.org/drawingml/2006/table">
            <a:tbl>
              <a:tblPr/>
              <a:tblGrid>
                <a:gridCol w="1112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Pattern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Matches?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Example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'R%'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 YES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Rahul, Ram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'%hu'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 YES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Rahu→l? No – 'Raghu'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'R___'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 YES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Riya, Rama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'R_'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❌ NO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Rahul (&gt;2 chars)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'[RS]%'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 YES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Riya, Sita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'[^R]%'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 YES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Priya, Amit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577840" y="4005072"/>
            <a:ext cx="3337560" cy="6858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D4FF"/>
            </a:solidFill>
            <a:prstDash val="solid"/>
          </a:ln>
          <a:effectLst>
            <a:outerShdw blurRad="254000" dist="50800" dir="16200000" algn="bl" rotWithShape="0">
              <a:srgbClr val="00D4FF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4005072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24144" y="4078224"/>
            <a:ext cx="311810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SQL Server, wildcards in LIKE are case-insensitive by default (depends on collation).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286000"/>
            <a:ext cx="7315200" cy="7315200"/>
          </a:xfrm>
          <a:prstGeom prst="ellipse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A855F7">
              <a:alpha val="1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64592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377440" y="1920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 temporary names to columns and tables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2514600"/>
            <a:ext cx="64008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"/>
            <a:ext cx="800100" cy="274320"/>
          </a:xfrm>
          <a:prstGeom prst="rect">
            <a:avLst/>
          </a:prstGeom>
          <a:solidFill>
            <a:srgbClr val="A855F7">
              <a:alpha val="2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2024"/>
            <a:ext cx="8001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– AS Keyword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Dark Edition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Alias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117043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Renames a column in the result set output.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508760"/>
            <a:ext cx="4160520" cy="2148840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508760"/>
            <a:ext cx="54864" cy="214884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1600200"/>
            <a:ext cx="3977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With AS keyword (recommended)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FirstName   AS "First Name",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LastName    AS Surname,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Salary * 12 AS AnnualSalary,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GETDATE()   AS TodayDate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Without AS (also valid)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FirstName "First Name",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Salary * 12 AnnualPay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37490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Alias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20040" y="4114800"/>
            <a:ext cx="4160520" cy="1005840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4114800"/>
            <a:ext cx="54864" cy="100584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4206240"/>
            <a:ext cx="3977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Table alias (very useful in JOINs)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e.EmpName, d.DeptName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  AS 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  Departments AS 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  e.DeptID = d.DeptID;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77840" y="822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Preview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70432"/>
          <a:ext cx="3337560" cy="1097280"/>
        </p:xfrm>
        <a:graphic>
          <a:graphicData uri="http://schemas.openxmlformats.org/drawingml/2006/table">
            <a:tbl>
              <a:tblPr/>
              <a:tblGrid>
                <a:gridCol w="1112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First Name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Surname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AnnualSalary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Rahul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Shah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720000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Priya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Patel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864000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Arjun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Mehta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624000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5577840" y="2423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Alias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577840" y="2743200"/>
            <a:ext cx="3337560" cy="1965960"/>
          </a:xfrm>
          <a:prstGeom prst="rect">
            <a:avLst/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669280" y="2816352"/>
            <a:ext cx="3154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double quotes for spaces: AS "First Name"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visible only in ORDER BY, not in WHERE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Alias cannot be used in GROUP BY (use column directly)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alias shortens long table names in joins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keyword is optional but recommended for clarity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286000"/>
            <a:ext cx="7315200" cy="7315200"/>
          </a:xfrm>
          <a:prstGeom prst="ellipse">
            <a:avLst/>
          </a:prstGeom>
          <a:solidFill>
            <a:srgbClr val="FF4D6D">
              <a:alpha val="8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FF4D6D">
              <a:alpha val="1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645920" cy="3657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NULL / IS NOT NULL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377440" y="1920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 in SQL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2514600"/>
            <a:ext cx="64008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"/>
            <a:ext cx="1010412" cy="274320"/>
          </a:xfrm>
          <a:prstGeom prst="rect">
            <a:avLst/>
          </a:prstGeom>
          <a:solidFill>
            <a:srgbClr val="FF4D6D">
              <a:alpha val="20000"/>
            </a:srgbClr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2024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 NULL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NULL – Handling Missing Data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Dark Edition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8503920" cy="7772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4D6D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804672"/>
            <a:ext cx="8503920" cy="36576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8046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means UNKNOWN or MISSING. It is NOT zero, NOT an empty string – it literally has no value.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20040" y="1664208"/>
            <a:ext cx="5074920" cy="2944368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664208"/>
            <a:ext cx="54864" cy="2944368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1755648"/>
            <a:ext cx="4892040" cy="276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Find employees with NO email address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 Department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Email IS NULL;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Find employees WHO HAVE an email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 Email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Email IS NOT NULL;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Replace NULL with a default using ISNULL()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ISNULL(Email, 'Not Provided') AS Email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COALESCE: returns first non-NULL value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EmpName,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COALESCE(Mobile, Phone, 'No Contact') AS Contact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77840" y="1664208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Table</a:t>
            </a:r>
            <a:endParaRPr lang="en-US" sz="1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993392"/>
          <a:ext cx="3337560" cy="1371600"/>
        </p:xfrm>
        <a:graphic>
          <a:graphicData uri="http://schemas.openxmlformats.org/drawingml/2006/table">
            <a:tbl>
              <a:tblPr/>
              <a:tblGrid>
                <a:gridCol w="1112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EmpName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Email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Mobile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Rahul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r@g.com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9876543210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Priya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9988776655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Arjun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a@g.com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Neha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NULL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Text 14"/>
          <p:cNvSpPr/>
          <p:nvPr/>
        </p:nvSpPr>
        <p:spPr>
          <a:xfrm>
            <a:off x="5577840" y="35204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Common Mistakes with NULL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577840" y="3858768"/>
            <a:ext cx="3337560" cy="1115568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577840" y="3858768"/>
            <a:ext cx="54864" cy="1115568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05856" y="3950208"/>
            <a:ext cx="31546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❌ WRONG: = NULL never works!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Email = NULL     -- always FALSE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❌ WRONG: != NULL never works!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Email != NULL    -- always FALSE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✅ CORRECT: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Email IS NULL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Email IS NOT NULL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286000"/>
            <a:ext cx="7315200" cy="7315200"/>
          </a:xfrm>
          <a:prstGeom prst="ellipse">
            <a:avLst/>
          </a:prstGeom>
          <a:solidFill>
            <a:srgbClr val="00FF94">
              <a:alpha val="8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286000"/>
            <a:ext cx="4572000" cy="4572000"/>
          </a:xfrm>
          <a:prstGeom prst="ellipse">
            <a:avLst/>
          </a:prstGeom>
          <a:solidFill>
            <a:srgbClr val="00FF94">
              <a:alpha val="1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64592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2377440" y="19202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duplicate rows from results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377440" y="2514600"/>
            <a:ext cx="6400800" cy="27432"/>
          </a:xfrm>
          <a:prstGeom prst="rect">
            <a:avLst/>
          </a:prstGeom>
          <a:solidFill>
            <a:srgbClr val="1E2D45"/>
          </a:solidFill>
          <a:ln w="12700">
            <a:solidFill>
              <a:srgbClr val="1E2D45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"/>
            <a:ext cx="1115568" cy="274320"/>
          </a:xfrm>
          <a:prstGeom prst="rect">
            <a:avLst/>
          </a:prstGeom>
          <a:solidFill>
            <a:srgbClr val="00FF94">
              <a:alpha val="2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202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– Unique Values Only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Dark Edition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8503920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4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8046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removes duplicate rows from the SELECT result. It operates on the entire row, not just one column.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" y="1572768"/>
            <a:ext cx="5074920" cy="3218688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1572768"/>
            <a:ext cx="54864" cy="3218688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8056" y="1664208"/>
            <a:ext cx="4892040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Syntax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column1, column2 FROM table;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➊ Single column: unique departments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Department FROM Employees;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➋ Multiple columns: unique city+dept combos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Department, City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➌ With WHERE clause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City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 Department = 'IT';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➍ COUNT DISTINCT: how many unique departments?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COUNT(DISTINCT Department) AS UniqueDepts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➎ DISTINCT with ORDER BY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City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City ASC;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77840" y="1572768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4D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DISTINCT</a:t>
            </a:r>
            <a:endParaRPr lang="en-US" sz="11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892808"/>
          <a:ext cx="3337560" cy="914400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Department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Finance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577840" y="3904488"/>
            <a:ext cx="3337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DISTINCT</a:t>
            </a:r>
            <a:endParaRPr lang="en-US" sz="115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4224528"/>
          <a:ext cx="3337560" cy="914400"/>
        </p:xfrm>
        <a:graphic>
          <a:graphicData uri="http://schemas.openxmlformats.org/drawingml/2006/table">
            <a:tbl>
              <a:tblPr/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Department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Finance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Sales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"/>
            <a:ext cx="1115568" cy="274320"/>
          </a:xfrm>
          <a:prstGeom prst="rect">
            <a:avLst/>
          </a:prstGeom>
          <a:solidFill>
            <a:srgbClr val="00FF94">
              <a:alpha val="2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2024"/>
            <a:ext cx="1115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– Advanced Usage &amp; Pitfalls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Dark Edition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5074920" cy="2880360"/>
          </a:xfrm>
          <a:prstGeom prst="rect">
            <a:avLst/>
          </a:prstGeom>
          <a:solidFill>
            <a:srgbClr val="060A14"/>
          </a:solidFill>
          <a:ln w="19050">
            <a:solidFill>
              <a:srgbClr val="00D4FF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804672"/>
            <a:ext cx="54864" cy="28803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896112"/>
            <a:ext cx="4892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⚠️ DISTINCT on multiple columns: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removes rows where ALL columns are identical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FirstName, LastName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"Rahul Shah" and "Rahul Patel" are KEPT (different LastName)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Two "Rahul Shah" rows → only ONE kept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✅ COUNT DISTINCT: count unique values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COUNT(DISTINCT City)       AS UniqueCities,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COUNT(DISTINCT Department) AS UniqueDepts,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                  AS TotalEmployees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Employees;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✅ DISTINCT with aggregate functions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Department,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COUNT(DISTINCT City) AS CitiesPerDept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Department;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767328"/>
            <a:ext cx="5074920" cy="1325880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767328"/>
            <a:ext cx="54864" cy="132588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" y="3858768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❌ You CANNOT use DISTINCT inside aggregates like this: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SUM(DISTINCT Salary) FROM Employees;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This WORKS but usually not what you want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It sums only unique salary values (rare use-case)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✅ Better: use GROUP BY for grouping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Department, COUNT(*) AS Headcount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  Employees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Department;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77840" y="8046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vs GROUP BY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43000"/>
          <a:ext cx="3337560" cy="914400"/>
        </p:xfrm>
        <a:graphic>
          <a:graphicData uri="http://schemas.openxmlformats.org/drawingml/2006/table">
            <a:tbl>
              <a:tblPr/>
              <a:tblGrid>
                <a:gridCol w="1112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Feature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DISTINCT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GROUP BY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Purpose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Unique rows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Group + aggregate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Aggregates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Limited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Full support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Performance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Similar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Similar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 case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Unique list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Summary stats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 BY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Optional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Optional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577840" y="3310128"/>
            <a:ext cx="3337560" cy="777240"/>
          </a:xfrm>
          <a:prstGeom prst="rect">
            <a:avLst/>
          </a:prstGeom>
          <a:solidFill>
            <a:srgbClr val="111827"/>
          </a:solidFill>
          <a:ln w="19050">
            <a:solidFill>
              <a:srgbClr val="00FF94"/>
            </a:solidFill>
            <a:prstDash val="solid"/>
          </a:ln>
          <a:effectLst>
            <a:outerShdw blurRad="254000" dist="50800" dir="16200000" algn="bl" rotWithShape="0">
              <a:srgbClr val="00FF94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577840" y="3310128"/>
            <a:ext cx="54864" cy="77724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24144" y="3383280"/>
            <a:ext cx="311810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DISTINCT for unique lists. Use GROUP BY when you also need COUNT, SUM, AVG on each group.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577840" y="4187952"/>
            <a:ext cx="3337560" cy="822960"/>
          </a:xfrm>
          <a:prstGeom prst="rect">
            <a:avLst/>
          </a:prstGeom>
          <a:solidFill>
            <a:srgbClr val="060A14"/>
          </a:solidFill>
          <a:ln w="19050">
            <a:solidFill>
              <a:srgbClr val="00FF94"/>
            </a:solidFill>
            <a:prstDash val="solid"/>
          </a:ln>
          <a:effectLst>
            <a:outerShdw blurRad="152400" dist="50800" dir="8100000" algn="bl" rotWithShape="0">
              <a:srgbClr val="000000">
                <a:alpha val="50000"/>
              </a:srgbClr>
            </a:outerShdw>
          </a:effectLst>
        </p:spPr>
      </p:sp>
      <p:sp>
        <p:nvSpPr>
          <p:cNvPr id="16" name="Shape 18"/>
          <p:cNvSpPr/>
          <p:nvPr/>
        </p:nvSpPr>
        <p:spPr>
          <a:xfrm>
            <a:off x="5577840" y="4187952"/>
            <a:ext cx="54864" cy="82296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05856" y="427939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Same result, different approach: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DISTINCT City FROM Employees;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0F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 FROM Employees GROUP BY City;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"/>
            <a:ext cx="1010412" cy="274320"/>
          </a:xfrm>
          <a:prstGeom prst="rect">
            <a:avLst/>
          </a:prstGeom>
          <a:solidFill>
            <a:srgbClr val="00FF94">
              <a:alpha val="20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2024"/>
            <a:ext cx="10104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Cheat Sheet – All Topics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Dark Edition</a:t>
            </a:r>
            <a:endParaRPr lang="en-US" sz="8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503920" cy="4174236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94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FF9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- * / %  =  !=  &gt;  &lt;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Arithmetic before comparison; use ( ) to control order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Wildcards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%  _  []  [^]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 only with LIKE; % = many chars, _ = exactly one</a:t>
                      </a:r>
                      <a:endParaRPr lang="en-US" sz="9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 AS 'Name'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Spaces need double quotes; not usable in WHERE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 LIKE 'pattern'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Slower than =; NOT LIKE to exclude; ESCAPE for literals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NULL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 IS NULL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use = NULL or != NULL — they always return false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NOT NULL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 IS NOT NULL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ISNULL(col,'default') replaces NULL with a value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cond1 AND cond2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must be true; higher precedence than 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cond1 OR cond2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least one true; use ( ) to mix with AND safely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condition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Reverses result; NOT NULL is still NULL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94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DISTINCT col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Removes duplicate rows; works on entire selected row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2D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F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92024"/>
            <a:ext cx="694944" cy="274320"/>
          </a:xfrm>
          <a:prstGeom prst="rect">
            <a:avLst/>
          </a:prstGeom>
          <a:solidFill>
            <a:srgbClr val="FFD60A">
              <a:alpha val="20000"/>
            </a:srgbClr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92024"/>
            <a:ext cx="694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QUIZ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Practice Quiz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solidFill>
            <a:srgbClr val="0D1526"/>
          </a:solidFill>
          <a:ln w="12700">
            <a:solidFill>
              <a:srgbClr val="1E2D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74336"/>
            <a:ext cx="914400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•  Dark Edition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write the queries?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1234440"/>
            <a:ext cx="85039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F94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234440"/>
            <a:ext cx="54864" cy="685800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7101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Find all employees whose name CONTAINS the letter 'a'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6002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WHERE Name LIKE '%a%'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984248"/>
            <a:ext cx="85039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D4FF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984248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0208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Show unique cities where IT department employees live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235000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SELECT DISTINCT City FROM Employees WHERE Department = 'IT'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734056"/>
            <a:ext cx="85039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A855F7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0040" y="2734056"/>
            <a:ext cx="54864" cy="685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7706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Find employees with NO phone number AND NO email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30998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WHERE Phone IS NULL AND Email IS NULL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483864"/>
            <a:ext cx="85039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60A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483864"/>
            <a:ext cx="54864" cy="685800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5204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List products costing between 100-500, NOT in 'Electronics'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849624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D6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WHERE Price BETWEEN 100 AND 500 AND Category NOT LIKE 'Electronics'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4233672"/>
            <a:ext cx="8503920" cy="685800"/>
          </a:xfrm>
          <a:prstGeom prst="rect">
            <a:avLst/>
          </a:prstGeom>
          <a:solidFill>
            <a:srgbClr val="111827"/>
          </a:solidFill>
          <a:ln w="12700">
            <a:solidFill>
              <a:srgbClr val="FF4D6D"/>
            </a:solidFill>
            <a:prstDash val="solid"/>
          </a:ln>
          <a:effectLst>
            <a:outerShdw blurRad="177800" dist="508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0040" y="4233672"/>
            <a:ext cx="54864" cy="685800"/>
          </a:xfrm>
          <a:prstGeom prst="rect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702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Q5. Employees from Surat or Mumbai earning above 40000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45994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4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Answer: WHERE (City = 'Surat' OR City = 'Mumbai') AND Salary &gt; 40000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E2D4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00FF94">
              <a:alpha val="7000"/>
            </a:srgbClr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-1371600" y="2926080"/>
            <a:ext cx="4114800" cy="4114800"/>
          </a:xfrm>
          <a:prstGeom prst="ellipse">
            <a:avLst/>
          </a:prstGeom>
          <a:solidFill>
            <a:srgbClr val="00D4FF">
              <a:alpha val="9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9144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Coding.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Querying.</a:t>
            </a:r>
            <a:endParaRPr lang="en-US" sz="3400" dirty="0"/>
          </a:p>
        </p:txBody>
      </p:sp>
      <p:sp>
        <p:nvSpPr>
          <p:cNvPr id="18" name="Shape 16"/>
          <p:cNvSpPr/>
          <p:nvPr/>
        </p:nvSpPr>
        <p:spPr>
          <a:xfrm>
            <a:off x="3200400" y="3182112"/>
            <a:ext cx="2743200" cy="36576"/>
          </a:xfrm>
          <a:prstGeom prst="rect">
            <a:avLst/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 •  Wildcards  •  Alias  •  LIKE  •  IS NULL  •  AND/OR/NOT  •  DISTINCT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  —  Dark Edition  —  Practice daily in SSMS!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2637</Words>
  <Application>Microsoft Office PowerPoint</Application>
  <PresentationFormat>On-screen Show (16:9)</PresentationFormat>
  <Paragraphs>619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Server – Deep Dive (Dark Mode)</dc:title>
  <dc:subject>PptxGenJS Presentation</dc:subject>
  <dc:creator>PptxGenJS</dc:creator>
  <cp:lastModifiedBy>Prachi Kabra</cp:lastModifiedBy>
  <cp:revision>2</cp:revision>
  <dcterms:created xsi:type="dcterms:W3CDTF">2026-04-24T18:33:07Z</dcterms:created>
  <dcterms:modified xsi:type="dcterms:W3CDTF">2026-04-24T19:04:32Z</dcterms:modified>
</cp:coreProperties>
</file>