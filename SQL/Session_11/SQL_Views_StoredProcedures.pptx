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865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2-HOUR SESSION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 &amp;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database programming: simplify queries with views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automate tasks with stored procedures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 Topics: </a:t>
            </a:r>
            <a:r>
              <a:rPr lang="en-US" sz="1300" dirty="0">
                <a:solidFill>
                  <a:srgbClr val="FFFFFF"/>
                </a:solidFill>
              </a:rPr>
              <a:t>Views  •  Stored Procedures  •  Parameters  •  Control Flow  •  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Session Agenda — 2 Hours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64592" cy="5760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69848"/>
            <a:ext cx="11887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0:00–0:10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960120"/>
            <a:ext cx="6400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📌  Introduction to Database Objects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18488"/>
            <a:ext cx="164592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728216"/>
            <a:ext cx="11887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282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0:10–0:40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618488"/>
            <a:ext cx="6400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👁️  SQL Views — Concepts &amp; Examples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2276856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76856"/>
            <a:ext cx="164592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386584"/>
            <a:ext cx="1188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865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0:40–0:50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276856"/>
            <a:ext cx="6400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✍️  Hands-on: Writing Your First 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2935224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35224"/>
            <a:ext cx="164592" cy="576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044952"/>
            <a:ext cx="1188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44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0:50–1:20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935224"/>
            <a:ext cx="6400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⚙️  Stored Procedures — Core Concepts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3593592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93592"/>
            <a:ext cx="164592" cy="576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70332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703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1:20–1:45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593592"/>
            <a:ext cx="6400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🔀  Parameters, Flow Control &amp; Examples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51960"/>
            <a:ext cx="164592" cy="5760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361688"/>
            <a:ext cx="1188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361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1:45–2:00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4251960"/>
            <a:ext cx="6400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🏆  Best Practices &amp; Q&amp;A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F3D0"/>
                </a:solidFill>
              </a:rPr>
              <a:t>PART 1: SQL VIEWS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a View?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Definition: </a:t>
            </a:r>
            <a:r>
              <a:rPr lang="en-US" sz="1400" dirty="0">
                <a:solidFill>
                  <a:srgbClr val="0A1628"/>
                </a:solidFill>
              </a:rPr>
              <a:t>A VIEW is a virtual table based on a stored SQL SELECT query. It does NOT store data physically — it runs the query dynamically each time it is accessed.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26517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</a:rPr>
              <a:t>Virtual 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Looks and acts like a table but stores no data itself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651760" cy="26517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03120"/>
            <a:ext cx="26517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</a:rPr>
              <a:t>Security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0632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Restricts access to sensitive columns or rows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651760" cy="26517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03120"/>
            <a:ext cx="2651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Reusability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30632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Write complex queries once, reuse them everywhere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Creating a View — Syntax &amp;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📝 Syntax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393192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view_name 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columns FROM 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condition;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🔄 Modify / Replace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261872"/>
            <a:ext cx="420624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 view_name 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new_columns FROM table;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03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57400"/>
            <a:ext cx="850392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Real-World Example: Employee Salary 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850392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a view to show employee info without sensitive salary data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vw_employee_public 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emp_id, first_name, last_name, department, hire_date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status = 'ACTIVE';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Query the view just like a table!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vw_employee_public WHERE department = 'Sales';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4251960"/>
            <a:ext cx="850392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🗑️  DROP VIEW: </a:t>
            </a:r>
            <a:r>
              <a:rPr lang="en-US" sz="12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 view_name;  </a:t>
            </a:r>
            <a:r>
              <a:rPr lang="en-US" sz="1200" i="1" dirty="0">
                <a:solidFill>
                  <a:srgbClr val="64748B"/>
                </a:solidFill>
              </a:rPr>
              <a:t>   ⚠️ Cannot DROP a view if other views depend on it!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Types of 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527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82880" cy="1252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241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🟢  Simple 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Based on a single table. No GROUP BY, DISTINCT, or joins. Supports INSERT/UPDATE/DELETE.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0" y="1033272"/>
            <a:ext cx="48463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051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vw_active_emp 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'ACTIVE';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8595360" cy="12527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04288"/>
            <a:ext cx="182880" cy="1252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682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🔵  Complex 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Uses multiple tables (JOINs), GROUP BY, aggregate functions. Generally read-only.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0" y="2377440"/>
            <a:ext cx="48463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395728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vw_dept_summary 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d.name, COUNT(e.id) AS emp_count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dept d JOIN employees 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d.id = e.dept_id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d.name;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8595360" cy="12527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48456"/>
            <a:ext cx="182880" cy="1252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124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🟣  Materialized View*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40873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Stores results physically on disk. Faster reads. Needs manual REFRESH. (*Oracle/PostgreSQL)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31920" y="3721608"/>
            <a:ext cx="48463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739896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MATERIALIZED VIEW mv_sales 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product_id, SUM(amount)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product_id;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Hands-On: View with JOIN &amp; WHERE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📋 Scenario: Show customer names, their orders, and order totals — only for orders above $500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859536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1: Understand the source tables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customers(id, name, email)   orders(id, cust_id, order_date, total)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2: Create the 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vw_high_value_orders 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c.name         AS customer_name,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o.id           AS order_id,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o.order_date,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o.total        AS order_total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customers 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INNER JOIN orders o ON c.id = o.cust_id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o.total &gt; 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o.total DESC;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3: Use the 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vw_high_value_orders;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950208"/>
            <a:ext cx="85953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9502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Sample Output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09812"/>
              </p:ext>
            </p:extLst>
          </p:nvPr>
        </p:nvGraphicFramePr>
        <p:xfrm>
          <a:off x="274320" y="4242816"/>
          <a:ext cx="8595360" cy="1036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1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customer_name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order_id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order_date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order_total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1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Alice Johnson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1042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2024-03-15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$1,200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1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Bob Smith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2024-03-18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$850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Carol Lee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2024-03-20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5603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1628"/>
                </a:solidFill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B4C8"/>
                </a:solidFill>
              </a:rPr>
              <a:t>Precompiled blocks of SQL stored in the database that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A0B4C8"/>
                </a:solidFill>
              </a:rPr>
              <a:t>can be executed on demand — like functions for your database.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920240" cy="43891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⚡ Fast Execution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3840480"/>
            <a:ext cx="1920240" cy="43891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840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🔒 Secure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840480"/>
            <a:ext cx="1920240" cy="43891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840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♻️ Reusable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840480"/>
            <a:ext cx="1920240" cy="43891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840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🛠️ Maintainable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Stored Procedure — Basic Syntax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9144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Change delimiter (MySQL)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91440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32888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CREATE PROCEDURE block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31536" y="9144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1536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45736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Body between BEGIN...END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44384" y="9144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58584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CALL to execute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8595360" cy="2834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84832"/>
            <a:ext cx="82296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MySQL Syntax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sp_get_employees()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emp_id, first_name, last_name, department, salary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employees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status = 'ACTIVE'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last_name;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Execute the stored procedure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sp_get_employees();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Stored Procedures with Parameters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Passes value INTO the procedure. Most common.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5146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dept_name VARCHAR(50)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974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OUT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Returns value FROM the procedure.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65960"/>
            <a:ext cx="25146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emp_count 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9748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INOUT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Passes value in AND returns modified value.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5146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INOUT salary DECIMAL(10,2)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859536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SP with IN parameter: Filter by department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sp_emp_by_dept(IN p_dept VARCHAR(50))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emp_id, first_name, salary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employees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department = p_dept;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Call with a value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sp_emp_by_dept('Sales');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sp_emp_by_dept('Engineering');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OUT Parameters — Returning 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💡 Use OUT when you want the SP to compute a value and pass it back to the caller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99032"/>
            <a:ext cx="8595360" cy="31546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sp_count_dept_emp(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 p_dept    VARCHAR(50),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p_count   INT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COUNT(*)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INTO   p_count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  employees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 department = p_dept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 status = 'ACTIVE';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How to call and read OUT parameter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sp_count_dept_emp('Engineering', @total);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@total AS employee_count;   -- result: 12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4553712"/>
            <a:ext cx="25603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553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CALL with IN='Engineering'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0360" y="45537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4553712"/>
            <a:ext cx="25603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553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SP counts rows → @total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45537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4553712"/>
            <a:ext cx="228600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553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SELECT @total →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Control Flow: IF / ELSEIF / ELSE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📝 Syntax Template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 THEN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statements;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other_condition THEN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statements;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statements;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914400"/>
            <a:ext cx="457200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📋 Use Case: Grade a student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29844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• IF score &gt;= 90  → </a:t>
            </a:r>
            <a:r>
              <a:rPr lang="en-US" sz="1200" b="1" dirty="0">
                <a:solidFill>
                  <a:srgbClr val="10B981"/>
                </a:solidFill>
              </a:rPr>
              <a:t>Grade A
</a:t>
            </a:r>
            <a:r>
              <a:rPr lang="en-US" sz="1200" dirty="0">
                <a:solidFill>
                  <a:srgbClr val="0A1628"/>
                </a:solidFill>
              </a:rPr>
              <a:t>• IF score &gt;= 75  → </a:t>
            </a:r>
            <a:r>
              <a:rPr lang="en-US" sz="1200" b="1" dirty="0">
                <a:solidFill>
                  <a:srgbClr val="0D9488"/>
                </a:solidFill>
              </a:rPr>
              <a:t>Grade B
</a:t>
            </a:r>
            <a:r>
              <a:rPr lang="en-US" sz="1200" dirty="0">
                <a:solidFill>
                  <a:srgbClr val="0A1628"/>
                </a:solidFill>
              </a:rPr>
              <a:t>• IF score &gt;= 60  → </a:t>
            </a:r>
            <a:r>
              <a:rPr lang="en-US" sz="1200" b="1" dirty="0">
                <a:solidFill>
                  <a:srgbClr val="F59E0B"/>
                </a:solidFill>
              </a:rPr>
              <a:t>Grade C
</a:t>
            </a:r>
            <a:r>
              <a:rPr lang="en-US" sz="1200" dirty="0">
                <a:solidFill>
                  <a:srgbClr val="0A1628"/>
                </a:solidFill>
              </a:rPr>
              <a:t>• ELSE              → </a:t>
            </a:r>
            <a:r>
              <a:rPr lang="en-US" sz="1200" b="1" dirty="0">
                <a:solidFill>
                  <a:srgbClr val="EF4444"/>
                </a:solidFill>
              </a:rPr>
              <a:t>Grade 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8595360" cy="2651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8229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sp_assign_grade(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 p_score  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p_grade  VARCHAR(2)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p_score &gt;= 90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p_grade = 'A';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ELSEIF p_score &gt;= 75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p_grade = 'B';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ELSEIF p_score &gt;= 60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p_grade = 'C';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p_grade = 'F';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sp_assign_grade(82, @g);  SELECT @g;  -- Output: 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Control Flow: WHILE Loop &amp; CURSORS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🔁 WHILE 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384048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sp_sum_1_to_n(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 p_n    INT,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p_total 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i INT DEFAULT 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p_total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&lt;= p_n 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p_total = p_total + 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i = i + 1;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WHILE;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CALL sp_sum_1_to_n(10, @s);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SELECT @s;   -- Output: 55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914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CURSOR (Row-by-Row)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9768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298448"/>
            <a:ext cx="41148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done INT DEFAULT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v_name VARCHAR(100);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cur CURSOR FOR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name FROM employees;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CONTINUE HANDLER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NOT FOUND SET done = 1;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cur;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read_loop: LOOP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 cur INTO v_name;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done THEN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LEAVE read_loop;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process v_name...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LOOP;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cur;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85953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⚠️  Cursor vs Set-Based: </a:t>
            </a:r>
            <a:r>
              <a:rPr lang="en-US" sz="1150" dirty="0">
                <a:solidFill>
                  <a:srgbClr val="0A1628"/>
                </a:solidFill>
              </a:rPr>
              <a:t>Cursors iterate row-by-row and are slower than set-based SQL. Prefer JOINs and aggregations where possible. Use cursors only when row-by-row processing is unavoidable.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Views vs Stored Procedures — At a Glance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114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SQL View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Stored Procedure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Stores Data?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❌ No (virtual)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❌ No (code only)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Accepts Parameters?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❌ No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✅ Yes (IN/OUT/INOUT)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Returns Result Set?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✅ Yes (always)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✅ Yes (optional)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Control Flow (IF/LOOP)?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❌ No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✅ Yes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Can Modify Data?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Limited (simple views only)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✅ Yes (INSERT/UPDATE/DELETE)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DML Inside Definition?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❌ No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✅ Yes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Called With?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SELECT / FROM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CALL proc_name()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</a:rPr>
                        <a:t>Best Used For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</a:rPr>
                        <a:t>Simplified queries, security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6534"/>
                          </a:solidFill>
                        </a:rPr>
                        <a:t>Business logic, automation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Best Practices 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🏷️ Naming Conventions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prefixes: vw_ for views (vw_employee_summary), sp_ for procedures (sp_get_orders). Makes objects easy to identify.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164592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📝 Always Add Comments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Document purpose, parameters, and author. Future you (and teammates) will thank you!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16459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0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🔒 Use Views for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Expose only needed columns via views. Never let users query raw tables with sensitive data (SSN, passwords).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164592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350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⚠️ Error Handling in SPs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697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DECLARE ... HANDLER to catch errors. Always handle the NOT FOUND condition when using cursors.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16459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🚀 Prefer Set-Based Logic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Avoid cursors when a single SQL JOIN/aggregate can do the job — set-based queries are 10-100x faster.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164592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🧹 Drop Before Recreate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02336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CREATE OR REPLACE VIEW / DROP PROCEDURE IF EXISTS before recreating to avoid errors in scripts.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✍️  Class Exercise — Try It Yourself!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Exercise 1 — Create a 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Task: </a:t>
            </a:r>
            <a:r>
              <a:rPr lang="en-US" sz="1250" dirty="0">
                <a:solidFill>
                  <a:srgbClr val="0A1628"/>
                </a:solidFill>
              </a:rPr>
              <a:t>Create a view called </a:t>
            </a:r>
            <a:r>
              <a:rPr lang="en-US" sz="12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vw_product_summary</a:t>
            </a:r>
            <a:r>
              <a:rPr lang="en-US" sz="1250" dirty="0">
                <a:solidFill>
                  <a:srgbClr val="0A1628"/>
                </a:solidFill>
              </a:rPr>
              <a:t> that shows product_name, category, price, and stock_qty from a products table — only for items where price &gt; 100 and stock_qty &gt; 0. Then write a SELECT to show only 'Electronics' from that 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Exercise 2 — Create a STORED PROCEDURE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859536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Task: </a:t>
            </a:r>
            <a:r>
              <a:rPr lang="en-US" sz="1250" dirty="0">
                <a:solidFill>
                  <a:srgbClr val="0A1628"/>
                </a:solidFill>
              </a:rPr>
              <a:t>Write a procedure </a:t>
            </a:r>
            <a:r>
              <a:rPr lang="en-US" sz="12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sp_update_salary</a:t>
            </a:r>
            <a:r>
              <a:rPr lang="en-US" sz="1250" dirty="0">
                <a:solidFill>
                  <a:srgbClr val="0A1628"/>
                </a:solidFill>
              </a:rPr>
              <a:t> that accepts emp_id (IN) and raise_percent (IN). It should calculate the new salary and update the employees table. If emp_id does not exist, set an OUT parameter </a:t>
            </a:r>
            <a:r>
              <a:rPr lang="en-US" sz="12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p_status = 'NOT FOUND'</a:t>
            </a:r>
            <a:r>
              <a:rPr lang="en-US" sz="1250" dirty="0">
                <a:solidFill>
                  <a:srgbClr val="0A1628"/>
                </a:solidFill>
              </a:rPr>
              <a:t>, otherwise set it to </a:t>
            </a: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'UPDATED'</a:t>
            </a:r>
            <a:r>
              <a:rPr lang="en-US" sz="1250" dirty="0">
                <a:solidFill>
                  <a:srgbClr val="0A1628"/>
                </a:solidFill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730752"/>
            <a:ext cx="859536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307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🌟 Bonus: </a:t>
            </a:r>
            <a:r>
              <a:rPr lang="en-US" sz="1250" dirty="0">
                <a:solidFill>
                  <a:srgbClr val="0A1628"/>
                </a:solidFill>
              </a:rPr>
              <a:t>Modify Exercise 1 to create a MATERIALIZED VIEW (or use a summary table if MySQL). Refresh it manually and compare query times!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4325112"/>
            <a:ext cx="859536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32511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⏱️  Time: 15–20 minutes  |  Work in pairs  |  Share your solution with the class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1907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B8A6"/>
                </a:solidFill>
              </a:rPr>
              <a:t>👁️  Views simplify complex queries and add a security layer — use them for read access.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1343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5B4FC"/>
                </a:solidFill>
              </a:rPr>
              <a:t>⚙️  Stored Procedures encapsulate business logic with parameters, conditionals, and loops.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0779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📊  Use Views for SELECT. Use SPs for DML (INSERT/UPDATE/DELETE) and complex flows.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0215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D34D"/>
                </a:solidFill>
              </a:rPr>
              <a:t>🏷️  Always follow naming conventions, add comments, and handle errors in SPs.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9651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</a:rPr>
              <a:t>🚀  Prefer set-based SQL over cursors for performance in production databases.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you! Questions? 🙋  Keep practicing — the best SQL is written one query at a 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2027</Words>
  <Application>Microsoft Office PowerPoint</Application>
  <PresentationFormat>On-screen Show (16:9)</PresentationFormat>
  <Paragraphs>320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Views &amp; Stored Procedures</dc:title>
  <dc:subject>PptxGenJS Presentation</dc:subject>
  <dc:creator>SQL Tutor</dc:creator>
  <cp:lastModifiedBy>Prachi Kabra</cp:lastModifiedBy>
  <cp:revision>3</cp:revision>
  <dcterms:created xsi:type="dcterms:W3CDTF">2026-05-23T06:26:41Z</dcterms:created>
  <dcterms:modified xsi:type="dcterms:W3CDTF">2026-05-23T07:04:44Z</dcterms:modified>
</cp:coreProperties>
</file>