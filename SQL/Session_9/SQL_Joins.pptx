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71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E4080">
              <a:alpha val="40000"/>
            </a:srgbClr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Mastering SQL Joins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>
                <a:solidFill>
                  <a:srgbClr val="FB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</a:t>
            </a:r>
            <a:r>
              <a:rPr lang="en-US" sz="1700" dirty="0">
                <a:solidFill>
                  <a:srgbClr val="FB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Professionals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5029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FB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Intermediate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58368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10972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Joins Matter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508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lives in multiple 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05840"/>
            <a:ext cx="658368" cy="105156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50408" y="10972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50408" y="1508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matching records between two tables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40280"/>
            <a:ext cx="658368" cy="105156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4028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2331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&amp; RIGHT JOIN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all records from one side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40280"/>
            <a:ext cx="658368" cy="105156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4028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50408" y="2331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50408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 from both tables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474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74720"/>
            <a:ext cx="658368" cy="105156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7472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69848" y="35661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&amp; CROSS JOIN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9848" y="39776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join patterns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474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474720"/>
            <a:ext cx="658368" cy="105156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47472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50408" y="35661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50408" y="39776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real business scenarios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Joins Matter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B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474720" cy="301752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347472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cust_id      name      city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Priya Mehta      Mumbai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956816"/>
            <a:ext cx="3291840" cy="0"/>
          </a:xfrm>
          <a:prstGeom prst="line">
            <a:avLst/>
          </a:prstGeom>
          <a:noFill/>
          <a:ln w="6350">
            <a:solidFill>
              <a:srgbClr val="E8ED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323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Raj Kumar      Delhi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432304"/>
            <a:ext cx="3291840" cy="0"/>
          </a:xfrm>
          <a:prstGeom prst="line">
            <a:avLst/>
          </a:prstGeom>
          <a:noFill/>
          <a:ln w="6350">
            <a:solidFill>
              <a:srgbClr val="E8ED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Anita Shah      Bangalore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3291840" cy="0"/>
          </a:xfrm>
          <a:prstGeom prst="line">
            <a:avLst/>
          </a:prstGeom>
          <a:noFill/>
          <a:ln w="6350">
            <a:solidFill>
              <a:srgbClr val="E8ED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832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Vikram Nair      Chennai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3291840" cy="0"/>
          </a:xfrm>
          <a:prstGeom prst="line">
            <a:avLst/>
          </a:prstGeom>
          <a:noFill/>
          <a:ln w="6350">
            <a:solidFill>
              <a:srgbClr val="E8ED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1005840"/>
            <a:ext cx="3474720" cy="301752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69080" y="1005840"/>
            <a:ext cx="3474720" cy="411480"/>
          </a:xfrm>
          <a:prstGeom prst="rect">
            <a:avLst/>
          </a:prstGeom>
          <a:solidFill>
            <a:srgbClr val="0A7E5F"/>
          </a:solidFill>
          <a:ln w="12700">
            <a:solidFill>
              <a:srgbClr val="0A7E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60520" y="14813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    cust_id    amount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19568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    1    ₹4,500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60520" y="1956816"/>
            <a:ext cx="3291840" cy="0"/>
          </a:xfrm>
          <a:prstGeom prst="line">
            <a:avLst/>
          </a:prstGeom>
          <a:noFill/>
          <a:ln w="6350">
            <a:solidFill>
              <a:srgbClr val="E8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4323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    2    ₹1,200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60520" y="2432304"/>
            <a:ext cx="3291840" cy="0"/>
          </a:xfrm>
          <a:prstGeom prst="line">
            <a:avLst/>
          </a:prstGeom>
          <a:noFill/>
          <a:ln w="6350">
            <a:solidFill>
              <a:srgbClr val="E8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29077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    1    ₹8,900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60520" y="2907792"/>
            <a:ext cx="3291840" cy="0"/>
          </a:xfrm>
          <a:prstGeom prst="line">
            <a:avLst/>
          </a:prstGeom>
          <a:noFill/>
          <a:ln w="6350">
            <a:solidFill>
              <a:srgbClr val="E8ED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33832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    5    ₹3,300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60520" y="3383280"/>
            <a:ext cx="3291840" cy="0"/>
          </a:xfrm>
          <a:prstGeom prst="line">
            <a:avLst/>
          </a:prstGeom>
          <a:noFill/>
          <a:ln w="6350">
            <a:solidFill>
              <a:srgbClr val="E8ED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67328" y="2331720"/>
            <a:ext cx="301752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80960" y="1005840"/>
            <a:ext cx="1280160" cy="3017520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1188720"/>
            <a:ext cx="1234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tables!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INNER JOIN — Only Matching Records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63840" y="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005840"/>
            <a:ext cx="2926080" cy="2560320"/>
          </a:xfrm>
          <a:prstGeom prst="ellipse">
            <a:avLst/>
          </a:prstGeom>
          <a:solidFill>
            <a:srgbClr val="0891B2">
              <a:alpha val="25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005840"/>
            <a:ext cx="2926080" cy="2560320"/>
          </a:xfrm>
          <a:prstGeom prst="ellipse">
            <a:avLst/>
          </a:prstGeom>
          <a:solidFill>
            <a:srgbClr val="0A7E5F">
              <a:alpha val="25000"/>
            </a:srgbClr>
          </a:solidFill>
          <a:ln w="25400">
            <a:solidFill>
              <a:srgbClr val="0A7E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1325880"/>
            <a:ext cx="1261872" cy="1920240"/>
          </a:xfrm>
          <a:prstGeom prst="ellipse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960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960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651760" cy="2606040"/>
          </a:xfrm>
          <a:prstGeom prst="rect">
            <a:avLst/>
          </a:prstGeom>
          <a:solidFill>
            <a:srgbClr val="F0F4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6517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444752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rows where the
join condition matches in
</a:t>
            </a: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tables.
</a:t>
            </a: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row has no match, it is
excluded from results.
</a:t>
            </a: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commonly used join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SQL!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794760"/>
            <a:ext cx="5715000" cy="1170432"/>
          </a:xfrm>
          <a:prstGeom prst="rect">
            <a:avLst/>
          </a:prstGeom>
          <a:solidFill>
            <a:srgbClr val="0F2044"/>
          </a:solidFill>
          <a:ln w="12700">
            <a:solidFill>
              <a:srgbClr val="1A3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85876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c.name, o.order_id, o.amount
</a:t>
            </a:r>
            <a:r>
              <a:rPr lang="en-US" sz="12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 c
</a:t>
            </a:r>
            <a:r>
              <a:rPr lang="en-US" sz="1250" b="1" dirty="0">
                <a:solidFill>
                  <a:srgbClr val="0EA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o </a:t>
            </a:r>
            <a:r>
              <a:rPr lang="en-US" sz="12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c.cust_id = o.cust_id;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26480" y="3886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Order 104 (cust_id=5) is EXCLUDED — no matching customer!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INNER JOIN — Results in Action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70408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88920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51960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0" y="960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7040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Mehta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1371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1371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₹4,500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Matched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704088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Kumar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₹1,200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Matched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7040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Mehta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51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₹8,900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2286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Matched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623624"/>
            <a:ext cx="7040880" cy="211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INNER JOIN result: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704088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78892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Vikram Nair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8892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5196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15000" y="27889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No orders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704088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24612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88920" y="3246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51960" y="32461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₹3,300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15000" y="32461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No customer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960120"/>
            <a:ext cx="1371600" cy="228600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07808" y="109728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rows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orders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4 customers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5F"/>
          </a:solidFill>
          <a:ln w="12700">
            <a:solidFill>
              <a:srgbClr val="0A7E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JOIN — Keep All Left Records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1005840"/>
            <a:ext cx="2926080" cy="2560320"/>
          </a:xfrm>
          <a:prstGeom prst="ellipse">
            <a:avLst/>
          </a:prstGeom>
          <a:solidFill>
            <a:srgbClr val="0A7E5F">
              <a:alpha val="55000"/>
            </a:srgbClr>
          </a:solidFill>
          <a:ln w="31750">
            <a:solidFill>
              <a:srgbClr val="0A7E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005840"/>
            <a:ext cx="2926080" cy="2560320"/>
          </a:xfrm>
          <a:prstGeom prst="ellipse">
            <a:avLst/>
          </a:prstGeom>
          <a:solidFill>
            <a:srgbClr val="DDDDDD">
              <a:alpha val="45000"/>
            </a:srgbClr>
          </a:solidFill>
          <a:ln w="254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rows)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matches)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749040"/>
            <a:ext cx="576072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822192"/>
            <a:ext cx="5394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c.name, o.order_id, o.amount
</a:t>
            </a:r>
            <a:r>
              <a:rPr lang="en-US" sz="12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 c
</a:t>
            </a:r>
            <a:r>
              <a:rPr lang="en-US" sz="1250" b="1" dirty="0">
                <a:solidFill>
                  <a:srgbClr val="12A8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o </a:t>
            </a:r>
            <a:r>
              <a:rPr lang="en-US" sz="12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c.cust_id = o.cust_id;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43200" cy="33832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60120"/>
            <a:ext cx="2743200" cy="384048"/>
          </a:xfrm>
          <a:prstGeom prst="rect">
            <a:avLst/>
          </a:prstGeom>
          <a:solidFill>
            <a:srgbClr val="0A7E5F"/>
          </a:solidFill>
          <a:ln w="12700">
            <a:solidFill>
              <a:srgbClr val="0A7E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173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Mehta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141732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7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1819656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8196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Mehta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0" y="181965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7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222199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2219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Kumar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0" y="22219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7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624328"/>
            <a:ext cx="2743200" cy="402336"/>
          </a:xfrm>
          <a:prstGeom prst="rect">
            <a:avLst/>
          </a:prstGeom>
          <a:solidFill>
            <a:srgbClr val="FFF8E1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6243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 Shah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0" y="26243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3026664"/>
            <a:ext cx="2743200" cy="402336"/>
          </a:xfrm>
          <a:prstGeom prst="rect">
            <a:avLst/>
          </a:prstGeom>
          <a:solidFill>
            <a:srgbClr val="FFF8E1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0266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Nair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0" y="302666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99632" y="34564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 &amp; Vikram appear with NULL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7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 have no orders!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A7E5F"/>
          </a:solidFill>
          <a:ln w="12700">
            <a:solidFill>
              <a:srgbClr val="0A7E5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JOIN &amp; FULL OUTER JOIN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069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JOIN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2194560" cy="1645920"/>
          </a:xfrm>
          <a:prstGeom prst="ellipse">
            <a:avLst/>
          </a:prstGeom>
          <a:solidFill>
            <a:srgbClr val="DDDDDD">
              <a:alpha val="45000"/>
            </a:srgbClr>
          </a:solidFill>
          <a:ln w="254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1463040"/>
            <a:ext cx="2194560" cy="1645920"/>
          </a:xfrm>
          <a:prstGeom prst="ellipse">
            <a:avLst/>
          </a:prstGeom>
          <a:solidFill>
            <a:srgbClr val="C0392B">
              <a:alpha val="50000"/>
            </a:srgbClr>
          </a:solidFill>
          <a:ln w="317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rows from the RIGHT table (orders).
Left table (customers) rows that don't match get NULL.
</a:t>
            </a: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orders from unknown/deleted customers.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104740"/>
            <a:ext cx="374904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649" y="31047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 c RIGHT JOIN orders o ON c.cust_id = o.cust_id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4160520" cy="4069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14400"/>
            <a:ext cx="416052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OUTER JOIN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92040" y="1463040"/>
            <a:ext cx="2148840" cy="1645920"/>
          </a:xfrm>
          <a:prstGeom prst="ellipse">
            <a:avLst/>
          </a:prstGeom>
          <a:solidFill>
            <a:srgbClr val="0891B2">
              <a:alpha val="45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463040"/>
            <a:ext cx="2148840" cy="1645920"/>
          </a:xfrm>
          <a:prstGeom prst="ellipse">
            <a:avLst/>
          </a:prstGeom>
          <a:solidFill>
            <a:srgbClr val="0A7E5F">
              <a:alpha val="45000"/>
            </a:srgbClr>
          </a:solidFill>
          <a:ln w="25400">
            <a:solidFill>
              <a:srgbClr val="0A7E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ALL  ALL 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384048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C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 c FULL OUTER JOIN orders o ON c.cust_id = o.cust_id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BOTH tables.
NULLs appear where no match exists on either side.
</a:t>
            </a: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reconciliation — find unmatched records on BOTH sides.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Reference: All 4 Join Types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0" y="868680"/>
            <a:ext cx="3657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4160520" cy="1719072"/>
          </a:xfrm>
          <a:prstGeom prst="rect">
            <a:avLst/>
          </a:prstGeom>
          <a:solidFill>
            <a:srgbClr val="1A356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INNER JOIN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rows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Customers WITH orders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60520" cy="1719072"/>
          </a:xfrm>
          <a:prstGeom prst="rect">
            <a:avLst/>
          </a:prstGeom>
          <a:solidFill>
            <a:srgbClr val="1A3566"/>
          </a:solidFill>
          <a:ln w="12700">
            <a:solidFill>
              <a:srgbClr val="0A7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4160520" cy="384048"/>
          </a:xfrm>
          <a:prstGeom prst="rect">
            <a:avLst/>
          </a:prstGeom>
          <a:solidFill>
            <a:srgbClr val="0A7E5F"/>
          </a:solidFill>
          <a:ln w="12700">
            <a:solidFill>
              <a:srgbClr val="0A7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515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JOIN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27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left + matching right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All customers (+ orders if any)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60520" cy="1719072"/>
          </a:xfrm>
          <a:prstGeom prst="rect">
            <a:avLst/>
          </a:prstGeom>
          <a:solidFill>
            <a:srgbClr val="1A3566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718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JOIN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4472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left + all right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All orders (+ customer if exists)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4160520" cy="1719072"/>
          </a:xfrm>
          <a:prstGeom prst="rect">
            <a:avLst/>
          </a:prstGeom>
          <a:solidFill>
            <a:srgbClr val="1A3566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71800"/>
            <a:ext cx="41605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718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OUTER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34472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both sides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8404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All customers AND all orders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Advanced: SELF JOIN &amp; CROSS JOIN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60520" cy="4069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416052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JOIN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joined to ITSELF using aliases. Use when data has self-referencing relationships.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Find each employee and their manager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3931920" cy="1298448"/>
          </a:xfrm>
          <a:prstGeom prst="rect">
            <a:avLst/>
          </a:prstGeom>
          <a:solidFill>
            <a:srgbClr val="0F2044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578608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e.name AS Employee,
       m.name AS Manager
</a:t>
            </a: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 e
</a:t>
            </a:r>
            <a:r>
              <a:rPr lang="en-US" sz="1100" b="1" dirty="0">
                <a:solidFill>
                  <a:srgbClr val="A267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 m
</a:t>
            </a: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e.manager_id = m.emp_id;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org charts, category hierarchies, geographic parent-child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4160520" cy="40690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14400"/>
            <a:ext cx="4160520" cy="41148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 JOIN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in Table A × every row in Table B.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 × N rows (Cartesian Product).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Generate all color-size combinations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514600"/>
            <a:ext cx="393192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578608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colors.name, sizes.label
</a:t>
            </a: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
</a:t>
            </a:r>
            <a:r>
              <a:rPr lang="en-US" sz="1100" b="1" dirty="0">
                <a:solidFill>
                  <a:srgbClr val="0EA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JOIN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sizes;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502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 colors × 3 sizes = 9 rows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28032" y="3886200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8862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Red-S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16752" y="3886200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8862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Red-M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05472" y="3886200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8862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Red-L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28032" y="4233672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2336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16752" y="4233672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42336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05472" y="4233672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2336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28032" y="4581144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5811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Green-S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16752" y="4581144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45811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Green-M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05472" y="4581144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45811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Green-L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🧪 Hands-On Lab — E-Commerce Database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B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Practice Session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841248"/>
          </a:xfrm>
          <a:prstGeom prst="rect">
            <a:avLst/>
          </a:prstGeom>
          <a:solidFill>
            <a:srgbClr val="1A3566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0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1371600"/>
            <a:ext cx="1188720" cy="84124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7160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4264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customers who have placed at least one order, showing their name and total order value.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1883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B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JOIN on cust_id, SUM(amount)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67712"/>
            <a:ext cx="8503920" cy="841248"/>
          </a:xfrm>
          <a:prstGeom prst="rect">
            <a:avLst/>
          </a:prstGeom>
          <a:solidFill>
            <a:srgbClr val="1A3566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67712"/>
            <a:ext cx="548640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6771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8680" y="2267712"/>
            <a:ext cx="1188720" cy="84124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267712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23225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customers who have NEVER placed any order.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27797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B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LEFT JOIN + WHERE order_id IS NULL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163824"/>
            <a:ext cx="8503920" cy="841248"/>
          </a:xfrm>
          <a:prstGeom prst="rect">
            <a:avLst/>
          </a:prstGeom>
          <a:solidFill>
            <a:srgbClr val="1A3566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63824"/>
            <a:ext cx="548640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6382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68680" y="3163824"/>
            <a:ext cx="1188720" cy="84124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163824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48840" y="32186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product and its total units sold (include products never sold).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488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B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products LEFT JOIN order_items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059936"/>
            <a:ext cx="8503920" cy="841248"/>
          </a:xfrm>
          <a:prstGeom prst="rect">
            <a:avLst/>
          </a:prstGeom>
          <a:solidFill>
            <a:srgbClr val="1A3566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059936"/>
            <a:ext cx="548640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05993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68680" y="4059936"/>
            <a:ext cx="1188720" cy="84124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059936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 JOIN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4884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each employee alongside their manager's name from the employees table.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4884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B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e1.manager_id = e2.emp_id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1E4080">
              <a:alpha val="35000"/>
            </a:srgbClr>
          </a:solidFill>
          <a:ln w="12700">
            <a:solidFill>
              <a:srgbClr val="1A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2926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→ Only rows matching in both tables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19072"/>
            <a:ext cx="2926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1907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7465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→ All left rows, NULL for non-matching right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249424"/>
            <a:ext cx="2926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4942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2768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→ All right rows, NULL for non-matching left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79776"/>
            <a:ext cx="2926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7977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8072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→ Everything from both, NULLs where no match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310128"/>
            <a:ext cx="2926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1012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3375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→ Table joined to itself (org charts, hierarchies)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2926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4048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86791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 → Cartesian product — use with caution!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BC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941</Words>
  <Application>Microsoft Office PowerPoint</Application>
  <PresentationFormat>On-screen Show (16:9)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SQL Joins</dc:title>
  <dc:subject>PptxGenJS Presentation</dc:subject>
  <dc:creator>Corporate Training - SQL Academy</dc:creator>
  <cp:lastModifiedBy>Prachi Kabra</cp:lastModifiedBy>
  <cp:revision>3</cp:revision>
  <dcterms:created xsi:type="dcterms:W3CDTF">2026-05-09T09:17:54Z</dcterms:created>
  <dcterms:modified xsi:type="dcterms:W3CDTF">2026-05-09T17:49:31Z</dcterms:modified>
</cp:coreProperties>
</file>