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7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EA5E9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String Operations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 SQL Server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Complete Guide — All Functions &amp; Techniques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</a:rPr>
              <a:t>💡 1-Hour Intensive Lesson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Lesson Agenda — 1 Hour Road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612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String Data Types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CHAR, VARCHAR, NVARCHAR, 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55648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9568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19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Length &amp; Case Functions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LEN, DATALENGTH, UPPER, LOWER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51176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752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Trimming &amp; Padding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LTRIM, RTRIM, TRIM, SPACE, REPLICATE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46704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5478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Search &amp; Position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CHARINDEX, PATINDEX, LIKE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42232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3434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489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SUBSTRING, LEFT, RIGHT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960120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1612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Modification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03520" y="1307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REPLACE, STUFF, REVERSE, CONCAT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7556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755648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195681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1819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Conversion &amp; Format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STR, FORMAT, CAST, CONVERT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5511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551176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2752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String Splitting &amp; Agg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0352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STRING_SPLIT, STRING_AGG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34670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346704"/>
            <a:ext cx="4572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54787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410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Advanced Patterns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0352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Wildcards, Collations, Best Practices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Data Types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Understanding how SQL Server stores text — the foundation of everything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String Data Types in SQL 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2801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960120"/>
            <a:ext cx="12344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60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777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960120"/>
            <a:ext cx="7772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9601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960120"/>
            <a:ext cx="33832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Practice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307592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34416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1307592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5064" y="134416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bytes (fixed)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1307592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134416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1307592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134416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1307592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3984" y="134416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with spaces. Use for fixed-length codes (e.g. country codes).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1874520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91109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00200" y="1874520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5064" y="191109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length + 2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34640" y="1874520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1911096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11880" y="1874520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1911096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1874520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191109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length. Best for general text.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441448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47802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VARCHAR(MAX)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2441448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55064" y="24780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GB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34640" y="2441448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2478024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11880" y="2441448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66744" y="2478024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9120" y="2441448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3984" y="247802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text. Avoid in indexed columns.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008376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04495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NCHAR(n)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00200" y="3008376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55064" y="3044952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bytes (fixed)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834640" y="3008376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3044952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11880" y="3008376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66744" y="3044952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89120" y="3008376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3984" y="304495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fixed-length. Use for multilingual fixed data.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575304"/>
            <a:ext cx="1280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61188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NVARCHAR(n)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00200" y="3575304"/>
            <a:ext cx="12344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55064" y="3611880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actual + 2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34640" y="3575304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9504" y="361188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11880" y="3575304"/>
            <a:ext cx="777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66744" y="361188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89120" y="3575304"/>
            <a:ext cx="33832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43984" y="361188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variable. Recommended for multilingual apps.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4142232"/>
            <a:ext cx="128016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417880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NVARCHAR(MAX)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00200" y="4142232"/>
            <a:ext cx="12344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55064" y="417880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GB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834640" y="4142232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9504" y="417880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11880" y="4142232"/>
            <a:ext cx="77724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66744" y="4178808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389120" y="4142232"/>
            <a:ext cx="3383280" cy="5212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43984" y="417880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Unicode text.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65760" y="4526279"/>
            <a:ext cx="8458200" cy="72096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29768" y="4736592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@code CHAR(2)       = 'IN';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@name VARCHAR(100)  = 'Rahul Sharma';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@bio  NVARCHAR(500) = N'नमस्ते — Hello';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Length &amp; Case Functions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LEN, DATALENGTH, UPPER, LOWER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Length &amp; Case — Functions &amp;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📏  LEN(string)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number of characters, excluding trailing spaces.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LEN('Hello  ') → 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69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💾  DATALENGTH(string)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362456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bytes used in storage — Unicode = 2× chars.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DATALENGTH(N'Hi') → 4 bytes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960120"/>
            <a:ext cx="7315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🔠  UPPER/LOWER(string)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36245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Converts characters to upper or lower case.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UPPER('sql') → 'SQL'  |  LOWER('SQL') → 'sql'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850392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249424"/>
            <a:ext cx="82844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@s VARCHAR(20)  = 'SQL Server';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@n NVARCHAR(20) = N'SQL Server';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LEN(@s) AS LEN_varchar,       -- 10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DATALENGTH(@s) AS Bytes_varchar,    -- 10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LEN(@n) AS LEN_nvarchar,      -- 10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DATALENGTH(@n) AS Bytes_nvarchar;   -- 20 (Unicode = 2 bytes/char)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250340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547872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LEN_varchar = 10   |   Bytes_varchar = 10   |   LEN_nvarchar = 10   |   Bytes_nvarchar = 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75888"/>
            <a:ext cx="85039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" y="3749040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 Functions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UPPER('hello world')   AS upper_result,   -- HELLO WORLD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LOWER('HELLO WORLD')   AS lower_result,   -- hello world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LOWER(UPPER('Mixed'))  AS combined;        -- mixed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3438" y="4505882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" y="4828032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upper_result = 'HELLO WORLD'   |   lower_result = 'hello world'   |   combined = 'mixed'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Trimming &amp; Padding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LTRIM, RTRIM, TRIM, SPACE, REPLICATE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Trimming &amp; Padding — Clean Your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LTRIM(s)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leading spaces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LTRIM('  Hi') → 'Hi'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RTRIM(s)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trailing spaces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RTRIM('Hi  ') → 'Hi'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960120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05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✂️  TRIM([chars FROM] 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0216" y="137160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Remove both sides (SQL 2017+)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TRIM('  Hi  ') → 'Hi'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963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⬜  SPACE(n)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86207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Returns n space characters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SPACE(5) → '     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450592"/>
            <a:ext cx="281635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450592"/>
            <a:ext cx="281635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4963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🔁  REPLICATE(s,n)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286207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Repeats string n times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REPLICATE('AB',3) → 'ABABAB'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85039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3986784"/>
            <a:ext cx="8284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Real-world: Clean messy customer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LTRIM(RTRIM(customer_name))          AS clean_name,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TRIM('.' FROM email)                  AS clean_email,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REPLICATE('*', 8) + RIGHT(phone, 4)  AS masked_phone,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SPACE(3) + first_name                AS indented_name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Pad a number to 6 digits: '42' → '000042'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RIGHT(REPLICATE('0', 6) + CAST(42 AS VARCHAR), 6) AS padded;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138928"/>
            <a:ext cx="8503920" cy="201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5193792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5413248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clean_name = 'Anjali Mehta'   |   masked_phone = '********9876'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padded = '000042'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Search &amp; Position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CHARINDEX, PATINDEX, LIKE wildcards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Search &amp; Position — Finding 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🔍  CHARINDEX(find, string [, start])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position of first match (1-based). Returns 0 if not found.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CHARINDEX('ql', 'SQL Server') → 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🎯  PATINDEX('%pattern%', string)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62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Like CHARINDEX but supports LIKE wildcards. Returns 0 if no match.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PATINDEX('%[0-9]%', 'Room 5B') → 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1"/>
            <a:ext cx="8503920" cy="154462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066544"/>
            <a:ext cx="82844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CHARINDEX examples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CHARINDEX('Server', 'SQL Server 2022')            AS pos1,  -- 5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CHARINDEX('x',      'SQL Server')                  AS pos2,  -- 0  (not found)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CHARINDEX('s',      'SQL Server', 4)               AS pos3;  -- 5  (start from pos 4)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PATINDEX with wildcards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PATINDEX('%[0-9]%',  'Invoice INV-00123')          AS first_digit,   -- 13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PATINDEX('%@%.%',    'user@example.com')            AS email_check;   -- 5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3483864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703320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pos1 = 5   |   pos2 = 0   |   pos3 = 5   |   first_digit = 13   |   email_check =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7673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LIKE Wildcards Quick Reference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087368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114800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sequence of zero or more chars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4114800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'%sql%'  →  matches 'MySQL', 'SQL Server'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343400"/>
            <a:ext cx="85039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37083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single character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4370832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'c_t'  →  matches 'cat', 'cut', 'cot'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599432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626864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[abc]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626864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one of listed chars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4626864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'[abc]%'  →  starts with a, b, or 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855464"/>
            <a:ext cx="85039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8289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[^abc]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882896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Any char NOT in list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882896"/>
            <a:ext cx="4389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'[^0-9]%'  →  starts with non-digit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Extraction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SUBSTRING, LEFT, RIGHT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Extraction — Getting Parts of a String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✂️  SUBSTRING(string, start, length)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Extracts length chars starting at start (1-based).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SUBSTRING('SQL Server', 5, 6) → 'Server'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69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⬅️  LEFT(string, 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362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First n characters from the left.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LEFT('SQL Server', 3) → 'SQL'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69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➡️  RIGHT(string, 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624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Last n characters from the right.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RIGHT('SQL Server', 6) → 'Server'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" y="1874519"/>
            <a:ext cx="8430768" cy="208763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" y="2130552"/>
            <a:ext cx="828446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Basic extraction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SUBSTRING('SQL Server 2022', 1,  3)  AS part1,   -- 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SUBSTRING('SQL Server 2022', 5,  6)  AS part2,   --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LEFT('john.doe@email.com', 8)         AS leftPart, -- john.doe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RIGHT('INV-00123',          5)        AS invoice;  -- 00123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Extract domain from email (dynamic length)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@email VARCHAR(100) = 'student@example.com';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LEFT(@email, CHARINDEX('@', @email) - 1)               AS username,  -- student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SUBSTRING(@email, CHARINDEX('@', @email) + 1, LEN(@email)) AS domain;-- example.com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899915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4265324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part1='SQL'  |  part2='Server'  |  leftPart='john.doe'  |  invoice='00123'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username='student'  |  domain='example.com'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1659" y="4568483"/>
            <a:ext cx="8503920" cy="4572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💡 Pro Tip: Combine CHARINDEX + SUBSTRING to extract dynamic segments between delimiters (e.g. slicing 'FirstName LastName' on the space character).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Modification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REPLACE, STUFF, REVERSE, CONCAT, CONCAT_WS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Modification — Changing String Content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REPLACE(s, old, new)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Replace all occurrences of old with new.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490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REPLACE('Hello World','World','SQL') → 'Hello SQL'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64792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37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STUFF(s, start, len, new)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Delete len chars at start and insert new string.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STUFF('SQL2019',4,4,'2022') → 'SQL2022'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9464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426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Reverses the character order.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REVERSE('SQL') → 'LQS'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7413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74136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472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CONCAT(s1,s2,...)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Join strings — NULLs treated as empty string.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3557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CONCAT('Hello',' ','World') → 'Hello World'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78808"/>
            <a:ext cx="64008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2519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CONCAT_WS(sep,s1,s2,...)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535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Join with separator, skipping NULLs (2017+).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4361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CONCAT_WS(', ','Delhi',NULL,'India') → 'Delhi, India'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Modification — Practical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45973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828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REPLACE: sanitize phone numbers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REPLACE(REPLACE(REPLACE(phone_no, '-', ''), ' ', ''), '(', '') AS clean_phone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   -- '(91) 98-765-4321' → '919876543 21'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STUFF: mask credit 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@card VARCHAR(20) = '4111111111111234';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STUFF(@card, 1, 12, REPLICATE('*',12)) AS masked;  -- ************1234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REVERSE: check palindrome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@word VARCHAR(50) = 'racecar';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 WHEN @word = REVERSE(@word) THEN 'Palindrome' ELSE 'Not' END AS result;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CONCAT_WS: build full address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CONCAT_WS(', ', house_no, street, city, state, pincode) AS full_address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Addresses;   -- '12, MG Road, Surat, Gujarat, 395001'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3382928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3736379"/>
            <a:ext cx="8284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 = '************1234'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'Palindrome'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full_address = '12, MG Road, Surat, Gujarat, 395001'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9959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Common Mistake — String Concatenation with NULL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251960"/>
            <a:ext cx="8503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4325112"/>
            <a:ext cx="82844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NULL kills the whole result with +  operator: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'Hello' + NULL + 'World'          -- NULL  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 CONCAT which ignores NULL: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CONCAT('Hello', NULL, 'World')    -- 'HelloWorld'  ✅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Conversion &amp; Formatting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STR, FORMAT, CAST, CONVERT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Conversion &amp; Formatting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33272"/>
            <a:ext cx="828446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STR: convert numeric to string (fixed-width, right-aligned)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STR(3.14159, 8, 2)    AS result;  -- '    3.14'  (width=8, decimals=2)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FORMAT: rich formatting using .NET format strings (SQL 2012+)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FORMAT(GETDATE(), 'dd-MMM-yyyy')          AS date_str,   -- 15-Mar-2025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FORMAT(1234567.89, 'N2', 'en-IN')         AS amount,     -- 12,34,567.89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FORMAT(0.1575, 'P1')                       AS pct;        -- 15.8%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CAST vs CONVERT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CAST(42 AS VARCHAR(10))                    AS cast_ex,    -- '42'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CONVERT(VARCHAR, GETDATE(), 103)            AS date_uk,    -- 15/03/2025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CONVERT(VARCHAR, GETDATE(), 120)            AS iso_fmt,    -- 2025-03-15 10:30:00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TRY_CAST('abc' AS INT)                     AS safe_cast;  -- NULL (no error)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319272"/>
            <a:ext cx="85039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337413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3593592"/>
            <a:ext cx="828446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result='    3.14'  |  date_str='15-Mar-2025'  |  amount='12,34,567.89'  |  pct='15.8%'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date_uk='15/03/2025'  |  iso_fmt='2025-03-15 10:30:00'  |  safe_cast=NULL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7947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Common CONVERT Date Style Codes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mm/dd/yyyy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20824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0824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66544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dd/mm/yyyy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66544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UK / India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21608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21608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67328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dd.mm.yyyy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67328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German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22392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22392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yyyymmdd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68112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ISO Basic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23176" y="4133088"/>
            <a:ext cx="1664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23176" y="4133088"/>
            <a:ext cx="16642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416966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68896" y="44622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 hh:mi:ss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68896" y="4773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ODBC / ISO Extended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Splitting &amp; Aggregating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STRING_SPLIT &amp; STRING_AGG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STRING_SPLIT &amp; STRING_AGG (SQL Server 2016+/2017+)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🔪  STRING_SPLIT(string, separator)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624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Table-valued function — splits a delimited string into rows.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Returns a table with a value column.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60120"/>
            <a:ext cx="7315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69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🔗  STRING_AGG(expr, separator)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624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Aggregate — joins rows into one delimited string.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Opposite of STRING_SPLIT. Works like GROUP_CONCAT in MySQL.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13898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1947672"/>
            <a:ext cx="8284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STRING_SPLIT: parse CSV tags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@tags VARCHAR(200) = 'SQL,Python,Excel,Power BI';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value AS tag FROM STRING_SPLIT(@tags, ',');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Output rows: SQL | Python | Excel | Power BI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 use: filter rows matching any item in a CSV parameter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IN (SELECT value FROM STRING_SPLIT('Books,Laptops,Phones', ','));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" y="32461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593592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264408"/>
            <a:ext cx="6400800" cy="11521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32888" y="3410712"/>
            <a:ext cx="6135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STRING_AGG: build comma-separated list per 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STRING_AGG(employee_name, ', 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WITHIN GROUP (ORDER BY employee_name) AS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4471416"/>
            <a:ext cx="8284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▶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4827329"/>
            <a:ext cx="828446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department='Engineering'   employees='Arjun, Kavya, Rohan'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department='Sales'         employees='Anjali, Rahul'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AE6FD"/>
                </a:solidFill>
              </a:rPr>
              <a:t>SECTION 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162D4E"/>
          </a:solidFill>
          <a:ln w="12700">
            <a:solidFill>
              <a:srgbClr val="162D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Advanced Patterns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Collations, wildcards, performance &amp;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Collations — Case &amp; Accent Sensitivity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Collation controls HOW strings are compared and sorted.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26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_CI_AS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74520" y="1435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</a:rPr>
              <a:t>Case Insensitive, Accent Sensitive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FALSE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26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_CS_AS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1435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</a:rPr>
              <a:t>Case Sensitive, Accent Sensitive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FALSE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33472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883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_CI_AI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74520" y="2697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</a:rPr>
              <a:t>Case Insensitive, Accent Insensitive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090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 = 'sql' →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'cafe' = 'café' → TRUE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3347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33472"/>
            <a:ext cx="42062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883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_BIN2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697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E6FD"/>
                </a:solidFill>
              </a:rPr>
              <a:t>Binary — fastest, exact byte compare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30906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for codes &amp; passwords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Fastest but strictest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8595360" cy="12847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" y="4005072"/>
            <a:ext cx="828446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Override collation in a query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'Admin' COLLATE SQL_Latin1_General_CP1_CS_AS;  -- case-sensitive check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column collation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COLUMN_NAME, COLLATION_NAME FROM INFORMATION_SCHEMA.COLUMNS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TABLE_NAME = 'Customers';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Best Practices &amp; Performance Tips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✅  Use NVARCHAR for user-facing 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Supports multilingual data. Prefix literals with N: N'नमस्ते' to avoid silent data loss.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⚡  Avoid functions on indexed columns in WHERE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9903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WHERE UPPER(email) = 'A@B.COM' prevents index use. Use case-insensitive collation instead.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📏  Right-size your VARCHAR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VARCHAR(MAX) disables some optimizations. Use the smallest size that fits your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🔒  Always use TRY_CAST / TRY_CONVERT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2491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Prevents runtime errors when converting untrusted string input to numeric/date types.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🧹  Clean data at ingestion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5079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Apply LTRIM/RTRIM/TRIM in INSERT or ETL triggers so downstream queries stay fast.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73152" cy="1216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📊  STRING_AGG &gt; FOR XML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050792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STRING_AGG is cleaner and faster than the old FOR XML PATH hack for concatenating rows.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📌  Quick Reference — All String Functions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60120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Character count (no trailing spaces)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64592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472184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DATALENGTH(s)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Byte count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64592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984248"/>
            <a:ext cx="548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UPPER/LOWER(s)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Change case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64592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49631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LTRIM/RTRIM/TRIM(s)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Remove spaces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64592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3008376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SPACE(n)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Generate spaces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322576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2576" y="960120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REPLICATE(s,n)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14016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Repeat string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322576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22576" y="1472184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CHARINDEX(f,s[,n])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14016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Position of substring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322576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22576" y="19842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PATINDEX('%p%',s)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14016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Position with wildcards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322576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22576" y="2496312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14016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SUBSTRING(s,n,len)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14016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Extract by position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322576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22576" y="3008376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14016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LEFT/RIGHT(s,n)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414016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From left or right end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480560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960120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REPLACE(s,old,new)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0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Replace all occurrences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480560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1472184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STUFF(s,n,len,new)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0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Delete then insert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4480560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1984248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0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Flip string backwards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480560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496312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CONCAT(s1,s2,...)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572000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Join (NULL→empty)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480560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008376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CONCAT_WS(sep,...)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0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Join with separator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638544" y="960120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960120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987552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STRING_SPLIT(s,sep)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29984" y="120700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Split to rows (2016+)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638544" y="1472184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38544" y="1472184"/>
            <a:ext cx="54864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29984" y="1499616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STRING_AGG(e,sep)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29984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Rows to string (2017+)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6638544" y="1984248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8544" y="1984248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9984" y="2011680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CAST/TRY_CAST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729984" y="2231136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Type conversion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638544" y="2496312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8544" y="249631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29984" y="2523744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CONVERT(type,e,style)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29984" y="2743200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With format style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6638544" y="3008376"/>
            <a:ext cx="20848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38544" y="3008376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29984" y="3035808"/>
            <a:ext cx="194767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FORMAT(e,'fmt')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729984" y="3255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Rich number/date format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164592" y="4800600"/>
            <a:ext cx="118872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Length/Case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252728" y="4800600"/>
            <a:ext cx="118872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408176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Trim/Pad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340864" y="4800600"/>
            <a:ext cx="118872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96312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Search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429000" y="4800600"/>
            <a:ext cx="118872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84448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Extract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517136" y="4800600"/>
            <a:ext cx="118872" cy="118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72584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Modify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605272" y="4800600"/>
            <a:ext cx="118872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0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Join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693408" y="48006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48856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Split/Agg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781544" y="48006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36992" y="47914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Convert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"/>
            <a:ext cx="4572000" cy="45720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640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🎓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Lesson Complete!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You now know all core SQL Server String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String Data Types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Length &amp; Case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Trim &amp; Pad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Search &amp; LIKE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Extraction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Modification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63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Conversion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Split &amp; Aggregate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A5E9"/>
                </a:solidFill>
              </a:rPr>
              <a:t>✓  Best Practices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</a:rPr>
              <a:t>Keep Practicing — String mastery = Clean, powerful SQL!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2896</Words>
  <Application>Microsoft Office PowerPoint</Application>
  <PresentationFormat>On-screen Show (16:9)</PresentationFormat>
  <Paragraphs>444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String Operations</dc:title>
  <dc:subject>PptxGenJS Presentation</dc:subject>
  <dc:creator>SQL Tutor</dc:creator>
  <cp:lastModifiedBy>Prachi Kabra</cp:lastModifiedBy>
  <cp:revision>2</cp:revision>
  <dcterms:created xsi:type="dcterms:W3CDTF">2026-05-02T06:24:14Z</dcterms:created>
  <dcterms:modified xsi:type="dcterms:W3CDTF">2026-05-02T14:15:00Z</dcterms:modified>
</cp:coreProperties>
</file>